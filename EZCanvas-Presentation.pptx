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EZCanvas is a reusable Android library — a drawing canvas plus a complete, configurable toolbar. The whole pitch: developers keep rebuilding drawing surfaces; this does it once and lets you turn features on or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Lots of apps need a drawing surface. The drawing part is the same grind every time and it's the part nobody wants to write. Read the four use cases, then the list of repeated hard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in one line: a canvas composable and a toolbar composable that share one state holder. The developer decides which controls the toolbar exposes — that's the whole product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differentiator. Most drawing libraries hand you a fixed UI. Here the same EzToolbar is a two-button signature pad or a full studio — you just change what's enabled. The configuration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grid quickly. Emphasize the paint bucket (a real scanline flood fill) and export — these are the hard parts the library owns so the developer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integration. A state holder, a canvas, a toolbar. Pause here — this is the 'look how easy' moment. Everything else is just choosing which features to enable.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app ships these seven. Same library, seven deliberately different feature sets — each is about ten readable lines. This proves the configurability claim in real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drawn item is one of three serializable elements in a single list. That one model is why undo/redo, export and rotation all just work. And the app holds zero engine code — proven by a grep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does it deserve to be an advanced project' slide. Hit the algorithmic and Android-platform depth: flood fill, the sealed model, state restoration, bitmap export, and shipping it as a published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proof it's real: it is published and installable from JitPack, the feature set is broad, the app/library separation is clean, and it runs back to Android 9. Not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modern Android stack: single Activity, all Jetpack Compose, no XML. The library itself depends only on Compose — easy to drop into any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forward look. These are documented as future work — the v1 scope (everything shown so far) is complete and demoable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approve the idea. Reiterate it's a genuinely reusable library plus a real demo app, not just a sample — and the roadmap shows it has room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E"/>
        </a:solidFill>
      </p:bgPr>
    </p:bg>
    <p:spTree>
      <p:nvGrpSpPr>
        <p:cNvPr id="1" name=""/>
        <p:cNvGrpSpPr/>
        <p:nvPr/>
      </p:nvGrpSpPr>
      <p:grpSpPr>
        <a:xfrm>
          <a:off x="0" y="0"/>
          <a:ext cx="0" cy="0"/>
          <a:chOff x="0" y="0"/>
          <a:chExt cx="0" cy="0"/>
        </a:xfrm>
      </p:grpSpPr>
      <p:sp>
        <p:nvSpPr>
          <p:cNvPr id="2" name="Text 0"/>
          <p:cNvSpPr/>
          <p:nvPr/>
        </p:nvSpPr>
        <p:spPr>
          <a:xfrm>
            <a:off x="640080" y="1371600"/>
            <a:ext cx="6400800" cy="100584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EZCanvas</a:t>
            </a:r>
            <a:endParaRPr lang="en-US" sz="6000" dirty="0"/>
          </a:p>
        </p:txBody>
      </p:sp>
      <p:sp>
        <p:nvSpPr>
          <p:cNvPr id="3" name="Text 1"/>
          <p:cNvSpPr/>
          <p:nvPr/>
        </p:nvSpPr>
        <p:spPr>
          <a:xfrm>
            <a:off x="658368" y="2468880"/>
            <a:ext cx="5669280" cy="914400"/>
          </a:xfrm>
          <a:prstGeom prst="rect">
            <a:avLst/>
          </a:prstGeom>
          <a:noFill/>
          <a:ln/>
        </p:spPr>
        <p:txBody>
          <a:bodyPr wrap="square" lIns="0" tIns="0" rIns="0" bIns="0" rtlCol="0" anchor="ctr"/>
          <a:lstStyle/>
          <a:p>
            <a:pPr indent="0" marL="0">
              <a:buNone/>
            </a:pPr>
            <a:r>
              <a:rPr lang="en-US" sz="1800" dirty="0">
                <a:solidFill>
                  <a:srgbClr val="C9C7D6"/>
                </a:solidFill>
                <a:latin typeface="Calibri" pitchFamily="34" charset="0"/>
                <a:ea typeface="Calibri" pitchFamily="34" charset="-122"/>
                <a:cs typeface="Calibri" pitchFamily="34" charset="-120"/>
              </a:rPr>
              <a:t>A configurable, exportable drawing-canvas library for Android — built entirely in Jetpack Compose.</a:t>
            </a:r>
            <a:endParaRPr lang="en-US" sz="1800" dirty="0"/>
          </a:p>
        </p:txBody>
      </p:sp>
      <p:sp>
        <p:nvSpPr>
          <p:cNvPr id="4" name="Shape 2"/>
          <p:cNvSpPr/>
          <p:nvPr/>
        </p:nvSpPr>
        <p:spPr>
          <a:xfrm>
            <a:off x="658368" y="3566160"/>
            <a:ext cx="457200" cy="457200"/>
          </a:xfrm>
          <a:prstGeom prst="roundRect">
            <a:avLst>
              <a:gd name="adj" fmla="val 24000"/>
            </a:avLst>
          </a:prstGeom>
          <a:solidFill>
            <a:srgbClr val="4F46E5"/>
          </a:solidFill>
          <a:ln/>
        </p:spPr>
      </p:sp>
      <p:sp>
        <p:nvSpPr>
          <p:cNvPr id="5" name="Text 3"/>
          <p:cNvSpPr/>
          <p:nvPr/>
        </p:nvSpPr>
        <p:spPr>
          <a:xfrm>
            <a:off x="65836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EZ</a:t>
            </a:r>
            <a:endParaRPr lang="en-US" sz="1400" dirty="0"/>
          </a:p>
        </p:txBody>
      </p:sp>
      <p:sp>
        <p:nvSpPr>
          <p:cNvPr id="6" name="Text 4"/>
          <p:cNvSpPr/>
          <p:nvPr/>
        </p:nvSpPr>
        <p:spPr>
          <a:xfrm>
            <a:off x="1280160" y="3529584"/>
            <a:ext cx="45720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Rotem Bar</a:t>
            </a:r>
            <a:endParaRPr lang="en-US" sz="1400" dirty="0"/>
          </a:p>
          <a:p>
            <a:pPr indent="0" marL="0">
              <a:buNone/>
            </a:pPr>
            <a:r>
              <a:rPr lang="en-US" sz="1200" dirty="0">
                <a:solidFill>
                  <a:srgbClr val="9B988F"/>
                </a:solidFill>
                <a:latin typeface="Calibri" pitchFamily="34" charset="0"/>
                <a:ea typeface="Calibri" pitchFamily="34" charset="-122"/>
                <a:cs typeface="Calibri" pitchFamily="34" charset="-120"/>
              </a:rPr>
              <a:t>Advanced Seminar in Mobile Development</a:t>
            </a:r>
            <a:endParaRPr lang="en-US" sz="1400" dirty="0"/>
          </a:p>
        </p:txBody>
      </p:sp>
      <p:sp>
        <p:nvSpPr>
          <p:cNvPr id="7" name="Shape 5"/>
          <p:cNvSpPr/>
          <p:nvPr/>
        </p:nvSpPr>
        <p:spPr>
          <a:xfrm>
            <a:off x="6583680" y="2377440"/>
            <a:ext cx="1371600" cy="-548640"/>
          </a:xfrm>
          <a:prstGeom prst="line">
            <a:avLst/>
          </a:prstGeom>
          <a:noFill/>
          <a:ln w="76200">
            <a:solidFill>
              <a:srgbClr val="4F46E5"/>
            </a:solidFill>
            <a:prstDash val="solid"/>
          </a:ln>
        </p:spPr>
      </p:sp>
      <p:sp>
        <p:nvSpPr>
          <p:cNvPr id="8" name="Shape 6"/>
          <p:cNvSpPr/>
          <p:nvPr/>
        </p:nvSpPr>
        <p:spPr>
          <a:xfrm>
            <a:off x="7772400" y="1737360"/>
            <a:ext cx="1097280" cy="640080"/>
          </a:xfrm>
          <a:prstGeom prst="line">
            <a:avLst/>
          </a:prstGeom>
          <a:noFill/>
          <a:ln w="76200">
            <a:solidFill>
              <a:srgbClr val="FB6F61"/>
            </a:solidFill>
            <a:prstDash val="solid"/>
          </a:ln>
        </p:spPr>
      </p:sp>
      <p:sp>
        <p:nvSpPr>
          <p:cNvPr id="9" name="Shape 7"/>
          <p:cNvSpPr/>
          <p:nvPr/>
        </p:nvSpPr>
        <p:spPr>
          <a:xfrm>
            <a:off x="8412480" y="1600200"/>
            <a:ext cx="868680" cy="868680"/>
          </a:xfrm>
          <a:prstGeom prst="ellipse">
            <a:avLst/>
          </a:prstGeom>
          <a:ln w="63500">
            <a:solidFill>
              <a:srgbClr val="14B8A6"/>
            </a:solidFill>
            <a:prstDash val="solid"/>
          </a:ln>
        </p:spPr>
      </p:sp>
      <p:sp>
        <p:nvSpPr>
          <p:cNvPr id="10" name="Shape 8"/>
          <p:cNvSpPr/>
          <p:nvPr/>
        </p:nvSpPr>
        <p:spPr>
          <a:xfrm>
            <a:off x="6675120" y="2697480"/>
            <a:ext cx="219456" cy="219456"/>
          </a:xfrm>
          <a:prstGeom prst="ellipse">
            <a:avLst/>
          </a:prstGeom>
          <a:solidFill>
            <a:srgbClr val="4F46E5"/>
          </a:solidFill>
          <a:ln/>
        </p:spPr>
      </p:sp>
      <p:sp>
        <p:nvSpPr>
          <p:cNvPr id="11" name="Shape 9"/>
          <p:cNvSpPr/>
          <p:nvPr/>
        </p:nvSpPr>
        <p:spPr>
          <a:xfrm>
            <a:off x="6986016" y="2697480"/>
            <a:ext cx="219456" cy="219456"/>
          </a:xfrm>
          <a:prstGeom prst="ellipse">
            <a:avLst/>
          </a:prstGeom>
          <a:solidFill>
            <a:srgbClr val="FB6F61"/>
          </a:solidFill>
          <a:ln/>
        </p:spPr>
      </p:sp>
      <p:sp>
        <p:nvSpPr>
          <p:cNvPr id="12" name="Shape 10"/>
          <p:cNvSpPr/>
          <p:nvPr/>
        </p:nvSpPr>
        <p:spPr>
          <a:xfrm>
            <a:off x="7296912" y="2697480"/>
            <a:ext cx="219456" cy="219456"/>
          </a:xfrm>
          <a:prstGeom prst="ellipse">
            <a:avLst/>
          </a:prstGeom>
          <a:solidFill>
            <a:srgbClr val="14B8A6"/>
          </a:solidFill>
          <a:ln/>
        </p:spPr>
      </p:sp>
      <p:sp>
        <p:nvSpPr>
          <p:cNvPr id="13" name="Shape 11"/>
          <p:cNvSpPr/>
          <p:nvPr/>
        </p:nvSpPr>
        <p:spPr>
          <a:xfrm>
            <a:off x="7607808" y="2697480"/>
            <a:ext cx="219456" cy="219456"/>
          </a:xfrm>
          <a:prstGeom prst="ellipse">
            <a:avLst/>
          </a:prstGeom>
          <a:solidFill>
            <a:srgbClr val="F59E0B"/>
          </a:solidFill>
          <a:ln/>
        </p:spPr>
      </p:sp>
      <p:sp>
        <p:nvSpPr>
          <p:cNvPr id="14" name="Shape 12"/>
          <p:cNvSpPr/>
          <p:nvPr/>
        </p:nvSpPr>
        <p:spPr>
          <a:xfrm>
            <a:off x="7918704" y="2697480"/>
            <a:ext cx="219456" cy="219456"/>
          </a:xfrm>
          <a:prstGeom prst="ellipse">
            <a:avLst/>
          </a:prstGeom>
          <a:solidFill>
            <a:srgbClr val="0C0C0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B6F61"/>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Every app rebuilds the same canvas</a:t>
            </a:r>
            <a:endParaRPr lang="en-US" sz="3200" dirty="0"/>
          </a:p>
        </p:txBody>
      </p:sp>
      <p:sp>
        <p:nvSpPr>
          <p:cNvPr id="4" name="Shape 2"/>
          <p:cNvSpPr/>
          <p:nvPr/>
        </p:nvSpPr>
        <p:spPr>
          <a:xfrm>
            <a:off x="548640" y="1691640"/>
            <a:ext cx="3931920" cy="731520"/>
          </a:xfrm>
          <a:prstGeom prst="roundRect">
            <a:avLst>
              <a:gd name="adj" fmla="val 12500"/>
            </a:avLst>
          </a:prstGeom>
          <a:solidFill>
            <a:srgbClr val="F4F2EC"/>
          </a:solidFill>
          <a:ln/>
        </p:spPr>
      </p:sp>
      <p:sp>
        <p:nvSpPr>
          <p:cNvPr id="5" name="Shape 3"/>
          <p:cNvSpPr/>
          <p:nvPr/>
        </p:nvSpPr>
        <p:spPr>
          <a:xfrm>
            <a:off x="749808" y="1911096"/>
            <a:ext cx="292608" cy="292608"/>
          </a:xfrm>
          <a:prstGeom prst="ellipse">
            <a:avLst/>
          </a:prstGeom>
          <a:solidFill>
            <a:srgbClr val="4F46E5"/>
          </a:solidFill>
          <a:ln/>
        </p:spPr>
      </p:sp>
      <p:sp>
        <p:nvSpPr>
          <p:cNvPr id="6" name="Text 4"/>
          <p:cNvSpPr/>
          <p:nvPr/>
        </p:nvSpPr>
        <p:spPr>
          <a:xfrm>
            <a:off x="1188720" y="1691640"/>
            <a:ext cx="3108960" cy="731520"/>
          </a:xfrm>
          <a:prstGeom prst="rect">
            <a:avLst/>
          </a:prstGeom>
          <a:noFill/>
          <a:ln/>
        </p:spPr>
        <p:txBody>
          <a:bodyPr wrap="square" lIns="0" tIns="0" rIns="0" bIns="0" rtlCol="0" anchor="ctr"/>
          <a:lstStyle/>
          <a:p>
            <a:pPr indent="0" marL="0">
              <a:buNone/>
            </a:pPr>
            <a:r>
              <a:rPr lang="en-US" sz="1500" b="1" dirty="0">
                <a:solidFill>
                  <a:srgbClr val="0C0C0E"/>
                </a:solidFill>
                <a:latin typeface="Calibri" pitchFamily="34" charset="0"/>
                <a:ea typeface="Calibri" pitchFamily="34" charset="-122"/>
                <a:cs typeface="Calibri" pitchFamily="34" charset="-120"/>
              </a:rPr>
              <a:t>Signature capture</a:t>
            </a:r>
            <a:endParaRPr lang="en-US" sz="1500" dirty="0"/>
          </a:p>
        </p:txBody>
      </p:sp>
      <p:sp>
        <p:nvSpPr>
          <p:cNvPr id="7" name="Shape 5"/>
          <p:cNvSpPr/>
          <p:nvPr/>
        </p:nvSpPr>
        <p:spPr>
          <a:xfrm>
            <a:off x="4709160" y="1691640"/>
            <a:ext cx="3931920" cy="731520"/>
          </a:xfrm>
          <a:prstGeom prst="roundRect">
            <a:avLst>
              <a:gd name="adj" fmla="val 12500"/>
            </a:avLst>
          </a:prstGeom>
          <a:solidFill>
            <a:srgbClr val="F4F2EC"/>
          </a:solidFill>
          <a:ln/>
        </p:spPr>
      </p:sp>
      <p:sp>
        <p:nvSpPr>
          <p:cNvPr id="8" name="Shape 6"/>
          <p:cNvSpPr/>
          <p:nvPr/>
        </p:nvSpPr>
        <p:spPr>
          <a:xfrm>
            <a:off x="4910328" y="1911096"/>
            <a:ext cx="292608" cy="292608"/>
          </a:xfrm>
          <a:prstGeom prst="ellipse">
            <a:avLst/>
          </a:prstGeom>
          <a:solidFill>
            <a:srgbClr val="FB6F61"/>
          </a:solidFill>
          <a:ln/>
        </p:spPr>
      </p:sp>
      <p:sp>
        <p:nvSpPr>
          <p:cNvPr id="9" name="Text 7"/>
          <p:cNvSpPr/>
          <p:nvPr/>
        </p:nvSpPr>
        <p:spPr>
          <a:xfrm>
            <a:off x="5349240" y="1691640"/>
            <a:ext cx="3108960" cy="731520"/>
          </a:xfrm>
          <a:prstGeom prst="rect">
            <a:avLst/>
          </a:prstGeom>
          <a:noFill/>
          <a:ln/>
        </p:spPr>
        <p:txBody>
          <a:bodyPr wrap="square" lIns="0" tIns="0" rIns="0" bIns="0" rtlCol="0" anchor="ctr"/>
          <a:lstStyle/>
          <a:p>
            <a:pPr indent="0" marL="0">
              <a:buNone/>
            </a:pPr>
            <a:r>
              <a:rPr lang="en-US" sz="1500" b="1" dirty="0">
                <a:solidFill>
                  <a:srgbClr val="0C0C0E"/>
                </a:solidFill>
                <a:latin typeface="Calibri" pitchFamily="34" charset="0"/>
                <a:ea typeface="Calibri" pitchFamily="34" charset="-122"/>
                <a:cs typeface="Calibri" pitchFamily="34" charset="-120"/>
              </a:rPr>
              <a:t>Photo &amp; screenshot markup</a:t>
            </a:r>
            <a:endParaRPr lang="en-US" sz="1500" dirty="0"/>
          </a:p>
        </p:txBody>
      </p:sp>
      <p:sp>
        <p:nvSpPr>
          <p:cNvPr id="10" name="Shape 8"/>
          <p:cNvSpPr/>
          <p:nvPr/>
        </p:nvSpPr>
        <p:spPr>
          <a:xfrm>
            <a:off x="548640" y="2606040"/>
            <a:ext cx="3931920" cy="731520"/>
          </a:xfrm>
          <a:prstGeom prst="roundRect">
            <a:avLst>
              <a:gd name="adj" fmla="val 12500"/>
            </a:avLst>
          </a:prstGeom>
          <a:solidFill>
            <a:srgbClr val="F4F2EC"/>
          </a:solidFill>
          <a:ln/>
        </p:spPr>
      </p:sp>
      <p:sp>
        <p:nvSpPr>
          <p:cNvPr id="11" name="Shape 9"/>
          <p:cNvSpPr/>
          <p:nvPr/>
        </p:nvSpPr>
        <p:spPr>
          <a:xfrm>
            <a:off x="749808" y="2825496"/>
            <a:ext cx="292608" cy="292608"/>
          </a:xfrm>
          <a:prstGeom prst="ellipse">
            <a:avLst/>
          </a:prstGeom>
          <a:solidFill>
            <a:srgbClr val="14B8A6"/>
          </a:solidFill>
          <a:ln/>
        </p:spPr>
      </p:sp>
      <p:sp>
        <p:nvSpPr>
          <p:cNvPr id="12" name="Text 10"/>
          <p:cNvSpPr/>
          <p:nvPr/>
        </p:nvSpPr>
        <p:spPr>
          <a:xfrm>
            <a:off x="1188720" y="2606040"/>
            <a:ext cx="3108960" cy="731520"/>
          </a:xfrm>
          <a:prstGeom prst="rect">
            <a:avLst/>
          </a:prstGeom>
          <a:noFill/>
          <a:ln/>
        </p:spPr>
        <p:txBody>
          <a:bodyPr wrap="square" lIns="0" tIns="0" rIns="0" bIns="0" rtlCol="0" anchor="ctr"/>
          <a:lstStyle/>
          <a:p>
            <a:pPr indent="0" marL="0">
              <a:buNone/>
            </a:pPr>
            <a:r>
              <a:rPr lang="en-US" sz="1500" b="1" dirty="0">
                <a:solidFill>
                  <a:srgbClr val="0C0C0E"/>
                </a:solidFill>
                <a:latin typeface="Calibri" pitchFamily="34" charset="0"/>
                <a:ea typeface="Calibri" pitchFamily="34" charset="-122"/>
                <a:cs typeface="Calibri" pitchFamily="34" charset="-120"/>
              </a:rPr>
              <a:t>Notes &amp; sketching</a:t>
            </a:r>
            <a:endParaRPr lang="en-US" sz="1500" dirty="0"/>
          </a:p>
        </p:txBody>
      </p:sp>
      <p:sp>
        <p:nvSpPr>
          <p:cNvPr id="13" name="Shape 11"/>
          <p:cNvSpPr/>
          <p:nvPr/>
        </p:nvSpPr>
        <p:spPr>
          <a:xfrm>
            <a:off x="4709160" y="2606040"/>
            <a:ext cx="3931920" cy="731520"/>
          </a:xfrm>
          <a:prstGeom prst="roundRect">
            <a:avLst>
              <a:gd name="adj" fmla="val 12500"/>
            </a:avLst>
          </a:prstGeom>
          <a:solidFill>
            <a:srgbClr val="F4F2EC"/>
          </a:solidFill>
          <a:ln/>
        </p:spPr>
      </p:sp>
      <p:sp>
        <p:nvSpPr>
          <p:cNvPr id="14" name="Shape 12"/>
          <p:cNvSpPr/>
          <p:nvPr/>
        </p:nvSpPr>
        <p:spPr>
          <a:xfrm>
            <a:off x="4910328" y="2825496"/>
            <a:ext cx="292608" cy="292608"/>
          </a:xfrm>
          <a:prstGeom prst="ellipse">
            <a:avLst/>
          </a:prstGeom>
          <a:solidFill>
            <a:srgbClr val="F59E0B"/>
          </a:solidFill>
          <a:ln/>
        </p:spPr>
      </p:sp>
      <p:sp>
        <p:nvSpPr>
          <p:cNvPr id="15" name="Text 13"/>
          <p:cNvSpPr/>
          <p:nvPr/>
        </p:nvSpPr>
        <p:spPr>
          <a:xfrm>
            <a:off x="5349240" y="2606040"/>
            <a:ext cx="3108960" cy="731520"/>
          </a:xfrm>
          <a:prstGeom prst="rect">
            <a:avLst/>
          </a:prstGeom>
          <a:noFill/>
          <a:ln/>
        </p:spPr>
        <p:txBody>
          <a:bodyPr wrap="square" lIns="0" tIns="0" rIns="0" bIns="0" rtlCol="0" anchor="ctr"/>
          <a:lstStyle/>
          <a:p>
            <a:pPr indent="0" marL="0">
              <a:buNone/>
            </a:pPr>
            <a:r>
              <a:rPr lang="en-US" sz="1500" b="1" dirty="0">
                <a:solidFill>
                  <a:srgbClr val="0C0C0E"/>
                </a:solidFill>
                <a:latin typeface="Calibri" pitchFamily="34" charset="0"/>
                <a:ea typeface="Calibri" pitchFamily="34" charset="-122"/>
                <a:cs typeface="Calibri" pitchFamily="34" charset="-120"/>
              </a:rPr>
              <a:t>Whiteboards &amp; teaching</a:t>
            </a:r>
            <a:endParaRPr lang="en-US" sz="1500" dirty="0"/>
          </a:p>
        </p:txBody>
      </p:sp>
      <p:sp>
        <p:nvSpPr>
          <p:cNvPr id="16" name="Text 14"/>
          <p:cNvSpPr/>
          <p:nvPr/>
        </p:nvSpPr>
        <p:spPr>
          <a:xfrm>
            <a:off x="548640" y="3749040"/>
            <a:ext cx="8046720" cy="731520"/>
          </a:xfrm>
          <a:prstGeom prst="rect">
            <a:avLst/>
          </a:prstGeom>
          <a:noFill/>
          <a:ln/>
        </p:spPr>
        <p:txBody>
          <a:bodyPr wrap="square" lIns="0" tIns="0" rIns="0" bIns="0" rtlCol="0" anchor="ctr"/>
          <a:lstStyle/>
          <a:p>
            <a:pPr indent="0" marL="0">
              <a:buNone/>
            </a:pPr>
            <a:r>
              <a:rPr lang="en-US" sz="1400" b="1" dirty="0">
                <a:solidFill>
                  <a:srgbClr val="0C0C0E"/>
                </a:solidFill>
                <a:latin typeface="Calibri" pitchFamily="34" charset="0"/>
                <a:ea typeface="Calibri" pitchFamily="34" charset="-122"/>
                <a:cs typeface="Calibri" pitchFamily="34" charset="-120"/>
              </a:rPr>
              <a:t>Rewritten every time:  </a:t>
            </a:r>
            <a:pPr indent="0" marL="0">
              <a:buNone/>
            </a:pPr>
            <a:r>
              <a:rPr lang="en-US" sz="1400" dirty="0">
                <a:solidFill>
                  <a:srgbClr val="86837B"/>
                </a:solidFill>
                <a:latin typeface="Calibri" pitchFamily="34" charset="0"/>
                <a:ea typeface="Calibri" pitchFamily="34" charset="-122"/>
                <a:cs typeface="Calibri" pitchFamily="34" charset="-120"/>
              </a:rPr>
              <a:t>smooth touch handling · undo/redo · brushes · flood fill · bitmap export · surviving rotation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4F46E5"/>
                </a:solidFill>
                <a:latin typeface="Calibri" pitchFamily="34" charset="0"/>
                <a:ea typeface="Calibri" pitchFamily="34" charset="-122"/>
                <a:cs typeface="Calibri" pitchFamily="34" charset="-120"/>
              </a:rPr>
              <a:t>THE IDEA</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One canvas. One toolbar. You pick the features.</a:t>
            </a:r>
            <a:endParaRPr lang="en-US" sz="3200" dirty="0"/>
          </a:p>
        </p:txBody>
      </p:sp>
      <p:sp>
        <p:nvSpPr>
          <p:cNvPr id="4" name="Text 2"/>
          <p:cNvSpPr/>
          <p:nvPr/>
        </p:nvSpPr>
        <p:spPr>
          <a:xfrm>
            <a:off x="548640" y="1600200"/>
            <a:ext cx="4937760" cy="2926080"/>
          </a:xfrm>
          <a:prstGeom prst="rect">
            <a:avLst/>
          </a:prstGeom>
          <a:noFill/>
          <a:ln/>
        </p:spPr>
        <p:txBody>
          <a:bodyPr wrap="square" lIns="0" tIns="0" rIns="0" bIns="0" rtlCol="0" anchor="ctr"/>
          <a:lstStyle/>
          <a:p>
            <a:pPr indent="0" marL="0">
              <a:lnSpc>
                <a:spcPct val="105000"/>
              </a:lnSpc>
              <a:buNone/>
            </a:pPr>
            <a:r>
              <a:rPr lang="en-US" sz="1600" b="1" dirty="0">
                <a:solidFill>
                  <a:srgbClr val="4F46E5"/>
                </a:solidFill>
                <a:latin typeface="Calibri" pitchFamily="34" charset="0"/>
                <a:ea typeface="Calibri" pitchFamily="34" charset="-122"/>
                <a:cs typeface="Calibri" pitchFamily="34" charset="-120"/>
              </a:rPr>
              <a:t>EzCanvas</a:t>
            </a:r>
            <a:endParaRPr lang="en-US" sz="1600" dirty="0"/>
          </a:p>
          <a:p>
            <a:pPr indent="0" marL="0">
              <a:lnSpc>
                <a:spcPct val="105000"/>
              </a:lnSpc>
              <a:buNone/>
            </a:pPr>
            <a:r>
              <a:rPr lang="en-US" sz="1300" dirty="0">
                <a:solidFill>
                  <a:srgbClr val="86837B"/>
                </a:solidFill>
                <a:latin typeface="Calibri" pitchFamily="34" charset="0"/>
                <a:ea typeface="Calibri" pitchFamily="34" charset="-122"/>
                <a:cs typeface="Calibri" pitchFamily="34" charset="-120"/>
              </a:rPr>
              <a:t>The drawing surface — touch handling, brushes, shapes, fill, export.</a:t>
            </a:r>
            <a:endParaRPr lang="en-US" sz="1600" dirty="0"/>
          </a:p>
          <a:p>
            <a:pPr indent="0" marL="0">
              <a:lnSpc>
                <a:spcPct val="105000"/>
              </a:lnSpc>
              <a:buNone/>
            </a:pPr>
            <a:r>
              <a:rPr lang="en-US" sz="800" dirty="0">
                <a:solidFill>
                  <a:srgbClr val="0C0C0E"/>
                </a:solidFill>
                <a:latin typeface="Calibri" pitchFamily="34" charset="0"/>
                <a:ea typeface="Calibri" pitchFamily="34" charset="-122"/>
                <a:cs typeface="Calibri" pitchFamily="34" charset="-120"/>
              </a:rPr>
              <a:t> </a:t>
            </a:r>
            <a:endParaRPr lang="en-US" sz="1600" dirty="0"/>
          </a:p>
          <a:p>
            <a:pPr indent="0" marL="0">
              <a:lnSpc>
                <a:spcPct val="105000"/>
              </a:lnSpc>
              <a:buNone/>
            </a:pPr>
            <a:r>
              <a:rPr lang="en-US" sz="1600" b="1" dirty="0">
                <a:solidFill>
                  <a:srgbClr val="4F46E5"/>
                </a:solidFill>
                <a:latin typeface="Calibri" pitchFamily="34" charset="0"/>
                <a:ea typeface="Calibri" pitchFamily="34" charset="-122"/>
                <a:cs typeface="Calibri" pitchFamily="34" charset="-120"/>
              </a:rPr>
              <a:t>EzToolbar</a:t>
            </a:r>
            <a:endParaRPr lang="en-US" sz="1600" dirty="0"/>
          </a:p>
          <a:p>
            <a:pPr indent="0" marL="0">
              <a:lnSpc>
                <a:spcPct val="105000"/>
              </a:lnSpc>
              <a:buNone/>
            </a:pPr>
            <a:r>
              <a:rPr lang="en-US" sz="1300" dirty="0">
                <a:solidFill>
                  <a:srgbClr val="86837B"/>
                </a:solidFill>
                <a:latin typeface="Calibri" pitchFamily="34" charset="0"/>
                <a:ea typeface="Calibri" pitchFamily="34" charset="-122"/>
                <a:cs typeface="Calibri" pitchFamily="34" charset="-120"/>
              </a:rPr>
              <a:t>A complete toolbar that renders whatever features you enable.</a:t>
            </a:r>
            <a:endParaRPr lang="en-US" sz="1600" dirty="0"/>
          </a:p>
          <a:p>
            <a:pPr indent="0" marL="0">
              <a:lnSpc>
                <a:spcPct val="105000"/>
              </a:lnSpc>
              <a:buNone/>
            </a:pPr>
            <a:r>
              <a:rPr lang="en-US" sz="800" dirty="0">
                <a:solidFill>
                  <a:srgbClr val="0C0C0E"/>
                </a:solidFill>
                <a:latin typeface="Calibri" pitchFamily="34" charset="0"/>
                <a:ea typeface="Calibri" pitchFamily="34" charset="-122"/>
                <a:cs typeface="Calibri" pitchFamily="34" charset="-120"/>
              </a:rPr>
              <a:t> </a:t>
            </a:r>
            <a:endParaRPr lang="en-US" sz="1600" dirty="0"/>
          </a:p>
          <a:p>
            <a:pPr indent="0" marL="0">
              <a:lnSpc>
                <a:spcPct val="105000"/>
              </a:lnSpc>
              <a:buNone/>
            </a:pPr>
            <a:r>
              <a:rPr lang="en-US" sz="1600" b="1" dirty="0">
                <a:solidFill>
                  <a:srgbClr val="4F46E5"/>
                </a:solidFill>
                <a:latin typeface="Calibri" pitchFamily="34" charset="0"/>
                <a:ea typeface="Calibri" pitchFamily="34" charset="-122"/>
                <a:cs typeface="Calibri" pitchFamily="34" charset="-120"/>
              </a:rPr>
              <a:t>rememberEzCanvasState()</a:t>
            </a:r>
            <a:endParaRPr lang="en-US" sz="1600" dirty="0"/>
          </a:p>
          <a:p>
            <a:pPr indent="0" marL="0">
              <a:lnSpc>
                <a:spcPct val="105000"/>
              </a:lnSpc>
              <a:buNone/>
            </a:pPr>
            <a:r>
              <a:rPr lang="en-US" sz="1300" dirty="0">
                <a:solidFill>
                  <a:srgbClr val="86837B"/>
                </a:solidFill>
                <a:latin typeface="Calibri" pitchFamily="34" charset="0"/>
                <a:ea typeface="Calibri" pitchFamily="34" charset="-122"/>
                <a:cs typeface="Calibri" pitchFamily="34" charset="-120"/>
              </a:rPr>
              <a:t>One hoisted state object drives both. Survives rotation.</a:t>
            </a:r>
            <a:endParaRPr lang="en-US" sz="1600" dirty="0"/>
          </a:p>
        </p:txBody>
      </p:sp>
      <p:sp>
        <p:nvSpPr>
          <p:cNvPr id="5" name="Shape 3"/>
          <p:cNvSpPr/>
          <p:nvPr/>
        </p:nvSpPr>
        <p:spPr>
          <a:xfrm>
            <a:off x="6126480" y="1417320"/>
            <a:ext cx="2468880" cy="3383280"/>
          </a:xfrm>
          <a:prstGeom prst="roundRect">
            <a:avLst>
              <a:gd name="adj" fmla="val 6667"/>
            </a:avLst>
          </a:prstGeom>
          <a:solidFill>
            <a:srgbClr val="0C0C0E"/>
          </a:solidFill>
          <a:ln/>
        </p:spPr>
      </p:sp>
      <p:sp>
        <p:nvSpPr>
          <p:cNvPr id="6" name="Shape 4"/>
          <p:cNvSpPr/>
          <p:nvPr/>
        </p:nvSpPr>
        <p:spPr>
          <a:xfrm>
            <a:off x="6236208" y="1527048"/>
            <a:ext cx="2249424" cy="3163824"/>
          </a:xfrm>
          <a:prstGeom prst="roundRect">
            <a:avLst>
              <a:gd name="adj" fmla="val 5691"/>
            </a:avLst>
          </a:prstGeom>
          <a:solidFill>
            <a:srgbClr val="FFFFFF"/>
          </a:solidFill>
          <a:ln/>
        </p:spPr>
      </p:sp>
      <p:sp>
        <p:nvSpPr>
          <p:cNvPr id="7" name="Shape 5"/>
          <p:cNvSpPr/>
          <p:nvPr/>
        </p:nvSpPr>
        <p:spPr>
          <a:xfrm>
            <a:off x="6583680" y="2788920"/>
            <a:ext cx="914400" cy="-457200"/>
          </a:xfrm>
          <a:prstGeom prst="line">
            <a:avLst/>
          </a:prstGeom>
          <a:noFill/>
          <a:ln w="63500">
            <a:solidFill>
              <a:srgbClr val="4F46E5"/>
            </a:solidFill>
            <a:prstDash val="solid"/>
          </a:ln>
        </p:spPr>
      </p:sp>
      <p:sp>
        <p:nvSpPr>
          <p:cNvPr id="8" name="Shape 6"/>
          <p:cNvSpPr/>
          <p:nvPr/>
        </p:nvSpPr>
        <p:spPr>
          <a:xfrm>
            <a:off x="7498080" y="2331720"/>
            <a:ext cx="640080" cy="640080"/>
          </a:xfrm>
          <a:prstGeom prst="ellipse">
            <a:avLst/>
          </a:prstGeom>
          <a:ln w="50800">
            <a:solidFill>
              <a:srgbClr val="FB6F61"/>
            </a:solidFill>
            <a:prstDash val="solid"/>
          </a:ln>
        </p:spPr>
      </p:sp>
      <p:sp>
        <p:nvSpPr>
          <p:cNvPr id="9" name="Shape 7"/>
          <p:cNvSpPr/>
          <p:nvPr/>
        </p:nvSpPr>
        <p:spPr>
          <a:xfrm>
            <a:off x="6446520" y="4023360"/>
            <a:ext cx="347472" cy="347472"/>
          </a:xfrm>
          <a:prstGeom prst="roundRect">
            <a:avLst>
              <a:gd name="adj" fmla="val 21053"/>
            </a:avLst>
          </a:prstGeom>
          <a:solidFill>
            <a:srgbClr val="0C0C0E"/>
          </a:solidFill>
          <a:ln/>
        </p:spPr>
      </p:sp>
      <p:sp>
        <p:nvSpPr>
          <p:cNvPr id="10" name="Shape 8"/>
          <p:cNvSpPr/>
          <p:nvPr/>
        </p:nvSpPr>
        <p:spPr>
          <a:xfrm>
            <a:off x="6885432" y="4023360"/>
            <a:ext cx="347472" cy="347472"/>
          </a:xfrm>
          <a:prstGeom prst="roundRect">
            <a:avLst>
              <a:gd name="adj" fmla="val 21053"/>
            </a:avLst>
          </a:prstGeom>
          <a:solidFill>
            <a:srgbClr val="F4F2EC"/>
          </a:solidFill>
          <a:ln/>
        </p:spPr>
      </p:sp>
      <p:sp>
        <p:nvSpPr>
          <p:cNvPr id="11" name="Shape 9"/>
          <p:cNvSpPr/>
          <p:nvPr/>
        </p:nvSpPr>
        <p:spPr>
          <a:xfrm>
            <a:off x="7324344" y="4023360"/>
            <a:ext cx="347472" cy="347472"/>
          </a:xfrm>
          <a:prstGeom prst="roundRect">
            <a:avLst>
              <a:gd name="adj" fmla="val 21053"/>
            </a:avLst>
          </a:prstGeom>
          <a:solidFill>
            <a:srgbClr val="F4F2EC"/>
          </a:solidFill>
          <a:ln/>
        </p:spPr>
      </p:sp>
      <p:sp>
        <p:nvSpPr>
          <p:cNvPr id="12" name="Shape 10"/>
          <p:cNvSpPr/>
          <p:nvPr/>
        </p:nvSpPr>
        <p:spPr>
          <a:xfrm>
            <a:off x="7763256" y="4023360"/>
            <a:ext cx="347472" cy="347472"/>
          </a:xfrm>
          <a:prstGeom prst="roundRect">
            <a:avLst>
              <a:gd name="adj" fmla="val 21053"/>
            </a:avLst>
          </a:prstGeom>
          <a:solidFill>
            <a:srgbClr val="F4F2EC"/>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4F46E5"/>
                </a:solidFill>
                <a:latin typeface="Calibri" pitchFamily="34" charset="0"/>
                <a:ea typeface="Calibri" pitchFamily="34" charset="-122"/>
                <a:cs typeface="Calibri" pitchFamily="34" charset="-120"/>
              </a:rPr>
              <a:t>WHY IT'S DIFFERENT</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Configurability is the product</a:t>
            </a:r>
            <a:endParaRPr lang="en-US" sz="3200" dirty="0"/>
          </a:p>
        </p:txBody>
      </p:sp>
      <p:sp>
        <p:nvSpPr>
          <p:cNvPr id="4" name="Shape 2"/>
          <p:cNvSpPr/>
          <p:nvPr/>
        </p:nvSpPr>
        <p:spPr>
          <a:xfrm>
            <a:off x="548640" y="1645920"/>
            <a:ext cx="3931920" cy="2834640"/>
          </a:xfrm>
          <a:prstGeom prst="roundRect">
            <a:avLst>
              <a:gd name="adj" fmla="val 3871"/>
            </a:avLst>
          </a:prstGeom>
          <a:solidFill>
            <a:srgbClr val="F4F2EC"/>
          </a:solidFill>
          <a:ln/>
          <a:effectLst>
            <a:outerShdw sx="100000" sy="100000" kx="0" ky="0" algn="bl" rotWithShape="0" blurRad="101600" dist="38100" dir="5400000">
              <a:srgbClr val="000000">
                <a:alpha val="13000"/>
              </a:srgbClr>
            </a:outerShdw>
          </a:effectLst>
        </p:spPr>
      </p:sp>
      <p:sp>
        <p:nvSpPr>
          <p:cNvPr id="5" name="Text 3"/>
          <p:cNvSpPr/>
          <p:nvPr/>
        </p:nvSpPr>
        <p:spPr>
          <a:xfrm>
            <a:off x="822960" y="1828800"/>
            <a:ext cx="3383280" cy="365760"/>
          </a:xfrm>
          <a:prstGeom prst="rect">
            <a:avLst/>
          </a:prstGeom>
          <a:noFill/>
          <a:ln/>
        </p:spPr>
        <p:txBody>
          <a:bodyPr wrap="square" lIns="0" tIns="0" rIns="0" bIns="0" rtlCol="0" anchor="ctr"/>
          <a:lstStyle/>
          <a:p>
            <a:pPr indent="0" marL="0">
              <a:buNone/>
            </a:pPr>
            <a:r>
              <a:rPr lang="en-US" sz="1700" b="1" dirty="0">
                <a:solidFill>
                  <a:srgbClr val="0C0C0E"/>
                </a:solidFill>
                <a:latin typeface="Calibri" pitchFamily="34" charset="0"/>
                <a:ea typeface="Calibri" pitchFamily="34" charset="-122"/>
                <a:cs typeface="Calibri" pitchFamily="34" charset="-120"/>
              </a:rPr>
              <a:t>Signature Pad</a:t>
            </a:r>
            <a:endParaRPr lang="en-US" sz="1700" dirty="0"/>
          </a:p>
        </p:txBody>
      </p:sp>
      <p:sp>
        <p:nvSpPr>
          <p:cNvPr id="6" name="Text 4"/>
          <p:cNvSpPr/>
          <p:nvPr/>
        </p:nvSpPr>
        <p:spPr>
          <a:xfrm>
            <a:off x="822960" y="2212848"/>
            <a:ext cx="3383280" cy="274320"/>
          </a:xfrm>
          <a:prstGeom prst="rect">
            <a:avLst/>
          </a:prstGeom>
          <a:noFill/>
          <a:ln/>
        </p:spPr>
        <p:txBody>
          <a:bodyPr wrap="square" lIns="0" tIns="0" rIns="0" bIns="0" rtlCol="0" anchor="ctr"/>
          <a:lstStyle/>
          <a:p>
            <a:pPr indent="0" marL="0">
              <a:buNone/>
            </a:pPr>
            <a:r>
              <a:rPr lang="en-US" sz="1200" dirty="0">
                <a:solidFill>
                  <a:srgbClr val="86837B"/>
                </a:solidFill>
                <a:latin typeface="Calibri" pitchFamily="34" charset="0"/>
                <a:ea typeface="Calibri" pitchFamily="34" charset="-122"/>
                <a:cs typeface="Calibri" pitchFamily="34" charset="-120"/>
              </a:rPr>
              <a:t>Two lines. One pen, clear, export.</a:t>
            </a:r>
            <a:endParaRPr lang="en-US" sz="1200" dirty="0"/>
          </a:p>
        </p:txBody>
      </p:sp>
      <p:sp>
        <p:nvSpPr>
          <p:cNvPr id="7" name="Shape 5"/>
          <p:cNvSpPr/>
          <p:nvPr/>
        </p:nvSpPr>
        <p:spPr>
          <a:xfrm>
            <a:off x="822960" y="2606040"/>
            <a:ext cx="3383280" cy="1691640"/>
          </a:xfrm>
          <a:prstGeom prst="roundRect">
            <a:avLst>
              <a:gd name="adj" fmla="val 5405"/>
            </a:avLst>
          </a:prstGeom>
          <a:solidFill>
            <a:srgbClr val="0C0C0E"/>
          </a:solidFill>
          <a:ln/>
        </p:spPr>
      </p:sp>
      <p:sp>
        <p:nvSpPr>
          <p:cNvPr id="8" name="Text 6"/>
          <p:cNvSpPr/>
          <p:nvPr/>
        </p:nvSpPr>
        <p:spPr>
          <a:xfrm>
            <a:off x="960120" y="2697480"/>
            <a:ext cx="3200400" cy="1508760"/>
          </a:xfrm>
          <a:prstGeom prst="rect">
            <a:avLst/>
          </a:prstGeom>
          <a:noFill/>
          <a:ln/>
        </p:spPr>
        <p:txBody>
          <a:bodyPr wrap="square" lIns="0" tIns="0" rIns="0" bIns="0" rtlCol="0" anchor="ctr"/>
          <a:lstStyle/>
          <a:p>
            <a:pPr indent="0" marL="0">
              <a:buNone/>
            </a:pPr>
            <a:r>
              <a:rPr lang="en-US" sz="1100" dirty="0">
                <a:solidFill>
                  <a:srgbClr val="D9D7E8"/>
                </a:solidFill>
                <a:latin typeface="Courier New" pitchFamily="34" charset="0"/>
                <a:ea typeface="Courier New" pitchFamily="34" charset="-122"/>
                <a:cs typeface="Courier New" pitchFamily="34" charset="-120"/>
              </a:rPr>
              <a:t>EzToolbar(
</a:t>
            </a:r>
            <a:endParaRPr lang="en-US" sz="1100" dirty="0"/>
          </a:p>
          <a:p>
            <a:pPr indent="0" marL="0">
              <a:buNone/>
            </a:pPr>
            <a:r>
              <a:rPr lang="en-US" sz="1100" dirty="0">
                <a:solidFill>
                  <a:srgbClr val="D9D7E8"/>
                </a:solidFill>
                <a:latin typeface="Courier New" pitchFamily="34" charset="0"/>
                <a:ea typeface="Courier New" pitchFamily="34" charset="-122"/>
                <a:cs typeface="Courier New" pitchFamily="34" charset="-120"/>
              </a:rPr>
              <a:t>  state,
</a:t>
            </a:r>
            <a:endParaRPr lang="en-US" sz="1100" dirty="0"/>
          </a:p>
          <a:p>
            <a:pPr indent="0" marL="0">
              <a:buNone/>
            </a:pPr>
            <a:r>
              <a:rPr lang="en-US" sz="1100" dirty="0">
                <a:solidFill>
                  <a:srgbClr val="D9D7E8"/>
                </a:solidFill>
                <a:latin typeface="Courier New" pitchFamily="34" charset="0"/>
                <a:ea typeface="Courier New" pitchFamily="34" charset="-122"/>
                <a:cs typeface="Courier New" pitchFamily="34" charset="-120"/>
              </a:rPr>
              <a:t>  enabledTools = setOf(Tool.PEN),
</a:t>
            </a:r>
            <a:endParaRPr lang="en-US" sz="1100" dirty="0"/>
          </a:p>
          <a:p>
            <a:pPr indent="0" marL="0">
              <a:buNone/>
            </a:pPr>
            <a:r>
              <a:rPr lang="en-US" sz="1100" dirty="0">
                <a:solidFill>
                  <a:srgbClr val="D9D7E8"/>
                </a:solidFill>
                <a:latin typeface="Courier New" pitchFamily="34" charset="0"/>
                <a:ea typeface="Courier New" pitchFamily="34" charset="-122"/>
                <a:cs typeface="Courier New" pitchFamily="34" charset="-120"/>
              </a:rPr>
              <a:t>  controls = setOf(Clear, Export),
</a:t>
            </a:r>
            <a:endParaRPr lang="en-US" sz="1100" dirty="0"/>
          </a:p>
          <a:p>
            <a:pPr indent="0" marL="0">
              <a:buNone/>
            </a:pPr>
            <a:r>
              <a:rPr lang="en-US" sz="1100" dirty="0">
                <a:solidFill>
                  <a:srgbClr val="D9D7E8"/>
                </a:solidFill>
                <a:latin typeface="Courier New" pitchFamily="34" charset="0"/>
                <a:ea typeface="Courier New" pitchFamily="34" charset="-122"/>
                <a:cs typeface="Courier New" pitchFamily="34" charset="-120"/>
              </a:rPr>
              <a:t>)</a:t>
            </a:r>
            <a:endParaRPr lang="en-US" sz="1100" dirty="0"/>
          </a:p>
        </p:txBody>
      </p:sp>
      <p:sp>
        <p:nvSpPr>
          <p:cNvPr id="9" name="Shape 7"/>
          <p:cNvSpPr/>
          <p:nvPr/>
        </p:nvSpPr>
        <p:spPr>
          <a:xfrm>
            <a:off x="4663440" y="1645920"/>
            <a:ext cx="3931920" cy="2834640"/>
          </a:xfrm>
          <a:prstGeom prst="roundRect">
            <a:avLst>
              <a:gd name="adj" fmla="val 3871"/>
            </a:avLst>
          </a:prstGeom>
          <a:solidFill>
            <a:srgbClr val="F4F2EC"/>
          </a:solidFill>
          <a:ln/>
          <a:effectLst>
            <a:outerShdw sx="100000" sy="100000" kx="0" ky="0" algn="bl" rotWithShape="0" blurRad="101600" dist="38100" dir="5400000">
              <a:srgbClr val="000000">
                <a:alpha val="13000"/>
              </a:srgbClr>
            </a:outerShdw>
          </a:effectLst>
        </p:spPr>
      </p:sp>
      <p:sp>
        <p:nvSpPr>
          <p:cNvPr id="10" name="Text 8"/>
          <p:cNvSpPr/>
          <p:nvPr/>
        </p:nvSpPr>
        <p:spPr>
          <a:xfrm>
            <a:off x="4937760" y="1828800"/>
            <a:ext cx="3383280" cy="365760"/>
          </a:xfrm>
          <a:prstGeom prst="rect">
            <a:avLst/>
          </a:prstGeom>
          <a:noFill/>
          <a:ln/>
        </p:spPr>
        <p:txBody>
          <a:bodyPr wrap="square" lIns="0" tIns="0" rIns="0" bIns="0" rtlCol="0" anchor="ctr"/>
          <a:lstStyle/>
          <a:p>
            <a:pPr indent="0" marL="0">
              <a:buNone/>
            </a:pPr>
            <a:r>
              <a:rPr lang="en-US" sz="1700" b="1" dirty="0">
                <a:solidFill>
                  <a:srgbClr val="0C0C0E"/>
                </a:solidFill>
                <a:latin typeface="Calibri" pitchFamily="34" charset="0"/>
                <a:ea typeface="Calibri" pitchFamily="34" charset="-122"/>
                <a:cs typeface="Calibri" pitchFamily="34" charset="-120"/>
              </a:rPr>
              <a:t>Painting Studio</a:t>
            </a:r>
            <a:endParaRPr lang="en-US" sz="1700" dirty="0"/>
          </a:p>
        </p:txBody>
      </p:sp>
      <p:sp>
        <p:nvSpPr>
          <p:cNvPr id="11" name="Text 9"/>
          <p:cNvSpPr/>
          <p:nvPr/>
        </p:nvSpPr>
        <p:spPr>
          <a:xfrm>
            <a:off x="4937760" y="2212848"/>
            <a:ext cx="3383280" cy="274320"/>
          </a:xfrm>
          <a:prstGeom prst="rect">
            <a:avLst/>
          </a:prstGeom>
          <a:noFill/>
          <a:ln/>
        </p:spPr>
        <p:txBody>
          <a:bodyPr wrap="square" lIns="0" tIns="0" rIns="0" bIns="0" rtlCol="0" anchor="ctr"/>
          <a:lstStyle/>
          <a:p>
            <a:pPr indent="0" marL="0">
              <a:buNone/>
            </a:pPr>
            <a:r>
              <a:rPr lang="en-US" sz="1200" dirty="0">
                <a:solidFill>
                  <a:srgbClr val="86837B"/>
                </a:solidFill>
                <a:latin typeface="Calibri" pitchFamily="34" charset="0"/>
                <a:ea typeface="Calibri" pitchFamily="34" charset="-122"/>
                <a:cs typeface="Calibri" pitchFamily="34" charset="-120"/>
              </a:rPr>
              <a:t>Every tool, every control.</a:t>
            </a:r>
            <a:endParaRPr lang="en-US" sz="1200" dirty="0"/>
          </a:p>
        </p:txBody>
      </p:sp>
      <p:sp>
        <p:nvSpPr>
          <p:cNvPr id="12" name="Shape 10"/>
          <p:cNvSpPr/>
          <p:nvPr/>
        </p:nvSpPr>
        <p:spPr>
          <a:xfrm>
            <a:off x="4937760" y="2606040"/>
            <a:ext cx="3383280" cy="1691640"/>
          </a:xfrm>
          <a:prstGeom prst="roundRect">
            <a:avLst>
              <a:gd name="adj" fmla="val 5405"/>
            </a:avLst>
          </a:prstGeom>
          <a:solidFill>
            <a:srgbClr val="0C0C0E"/>
          </a:solidFill>
          <a:ln/>
        </p:spPr>
      </p:sp>
      <p:sp>
        <p:nvSpPr>
          <p:cNvPr id="13" name="Text 11"/>
          <p:cNvSpPr/>
          <p:nvPr/>
        </p:nvSpPr>
        <p:spPr>
          <a:xfrm>
            <a:off x="5074920" y="2697480"/>
            <a:ext cx="3200400" cy="457200"/>
          </a:xfrm>
          <a:prstGeom prst="rect">
            <a:avLst/>
          </a:prstGeom>
          <a:noFill/>
          <a:ln/>
        </p:spPr>
        <p:txBody>
          <a:bodyPr wrap="square" lIns="0" tIns="0" rIns="0" bIns="0" rtlCol="0" anchor="ctr"/>
          <a:lstStyle/>
          <a:p>
            <a:pPr indent="0" marL="0">
              <a:buNone/>
            </a:pPr>
            <a:r>
              <a:rPr lang="en-US" sz="1300" dirty="0">
                <a:solidFill>
                  <a:srgbClr val="D9D7E8"/>
                </a:solidFill>
                <a:latin typeface="Courier New" pitchFamily="34" charset="0"/>
                <a:ea typeface="Courier New" pitchFamily="34" charset="-122"/>
                <a:cs typeface="Courier New" pitchFamily="34" charset="-120"/>
              </a:rPr>
              <a:t>EzToolbar(state)</a:t>
            </a:r>
            <a:endParaRPr lang="en-US" sz="1300" dirty="0"/>
          </a:p>
        </p:txBody>
      </p:sp>
      <p:sp>
        <p:nvSpPr>
          <p:cNvPr id="14" name="Shape 12"/>
          <p:cNvSpPr/>
          <p:nvPr/>
        </p:nvSpPr>
        <p:spPr>
          <a:xfrm>
            <a:off x="5074920" y="3383280"/>
            <a:ext cx="274320" cy="274320"/>
          </a:xfrm>
          <a:prstGeom prst="ellipse">
            <a:avLst/>
          </a:prstGeom>
          <a:solidFill>
            <a:srgbClr val="4F46E5"/>
          </a:solidFill>
          <a:ln/>
        </p:spPr>
      </p:sp>
      <p:sp>
        <p:nvSpPr>
          <p:cNvPr id="15" name="Shape 13"/>
          <p:cNvSpPr/>
          <p:nvPr/>
        </p:nvSpPr>
        <p:spPr>
          <a:xfrm>
            <a:off x="5458968" y="3383280"/>
            <a:ext cx="274320" cy="274320"/>
          </a:xfrm>
          <a:prstGeom prst="ellipse">
            <a:avLst/>
          </a:prstGeom>
          <a:solidFill>
            <a:srgbClr val="FB6F61"/>
          </a:solidFill>
          <a:ln/>
        </p:spPr>
      </p:sp>
      <p:sp>
        <p:nvSpPr>
          <p:cNvPr id="16" name="Shape 14"/>
          <p:cNvSpPr/>
          <p:nvPr/>
        </p:nvSpPr>
        <p:spPr>
          <a:xfrm>
            <a:off x="5843016" y="3383280"/>
            <a:ext cx="274320" cy="274320"/>
          </a:xfrm>
          <a:prstGeom prst="ellipse">
            <a:avLst/>
          </a:prstGeom>
          <a:solidFill>
            <a:srgbClr val="14B8A6"/>
          </a:solidFill>
          <a:ln/>
        </p:spPr>
      </p:sp>
      <p:sp>
        <p:nvSpPr>
          <p:cNvPr id="17" name="Shape 15"/>
          <p:cNvSpPr/>
          <p:nvPr/>
        </p:nvSpPr>
        <p:spPr>
          <a:xfrm>
            <a:off x="6227064" y="3383280"/>
            <a:ext cx="274320" cy="274320"/>
          </a:xfrm>
          <a:prstGeom prst="ellipse">
            <a:avLst/>
          </a:prstGeom>
          <a:solidFill>
            <a:srgbClr val="F59E0B"/>
          </a:solidFill>
          <a:ln/>
        </p:spPr>
      </p:sp>
      <p:sp>
        <p:nvSpPr>
          <p:cNvPr id="18" name="Text 16"/>
          <p:cNvSpPr/>
          <p:nvPr/>
        </p:nvSpPr>
        <p:spPr>
          <a:xfrm>
            <a:off x="5074920" y="3794760"/>
            <a:ext cx="3108960" cy="365760"/>
          </a:xfrm>
          <a:prstGeom prst="rect">
            <a:avLst/>
          </a:prstGeom>
          <a:noFill/>
          <a:ln/>
        </p:spPr>
        <p:txBody>
          <a:bodyPr wrap="square" lIns="0" tIns="0" rIns="0" bIns="0" rtlCol="0" anchor="ctr"/>
          <a:lstStyle/>
          <a:p>
            <a:pPr indent="0" marL="0">
              <a:buNone/>
            </a:pPr>
            <a:r>
              <a:rPr lang="en-US" sz="1300" i="1" dirty="0">
                <a:solidFill>
                  <a:srgbClr val="4F46E5"/>
                </a:solidFill>
                <a:latin typeface="Calibri" pitchFamily="34" charset="0"/>
                <a:ea typeface="Calibri" pitchFamily="34" charset="-122"/>
                <a:cs typeface="Calibri" pitchFamily="34" charset="-120"/>
              </a:rPr>
              <a:t>Same library.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4F46E5"/>
                </a:solidFill>
                <a:latin typeface="Calibri" pitchFamily="34" charset="0"/>
                <a:ea typeface="Calibri" pitchFamily="34" charset="-122"/>
                <a:cs typeface="Calibri" pitchFamily="34" charset="-120"/>
              </a:rPr>
              <a:t>WHAT IT DOES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A real drawing engine</a:t>
            </a:r>
            <a:endParaRPr lang="en-US" sz="3200" dirty="0"/>
          </a:p>
        </p:txBody>
      </p:sp>
      <p:sp>
        <p:nvSpPr>
          <p:cNvPr id="4" name="Shape 2"/>
          <p:cNvSpPr/>
          <p:nvPr/>
        </p:nvSpPr>
        <p:spPr>
          <a:xfrm>
            <a:off x="548640" y="1645920"/>
            <a:ext cx="1874520" cy="1234440"/>
          </a:xfrm>
          <a:prstGeom prst="roundRect">
            <a:avLst>
              <a:gd name="adj" fmla="val 7407"/>
            </a:avLst>
          </a:prstGeom>
          <a:solidFill>
            <a:srgbClr val="F4F2EC"/>
          </a:solidFill>
          <a:ln/>
        </p:spPr>
      </p:sp>
      <p:sp>
        <p:nvSpPr>
          <p:cNvPr id="5" name="Shape 3"/>
          <p:cNvSpPr/>
          <p:nvPr/>
        </p:nvSpPr>
        <p:spPr>
          <a:xfrm>
            <a:off x="731520" y="1828800"/>
            <a:ext cx="310896" cy="310896"/>
          </a:xfrm>
          <a:prstGeom prst="ellipse">
            <a:avLst/>
          </a:prstGeom>
          <a:solidFill>
            <a:srgbClr val="4F46E5"/>
          </a:solidFill>
          <a:ln/>
        </p:spPr>
      </p:sp>
      <p:sp>
        <p:nvSpPr>
          <p:cNvPr id="6" name="Text 4"/>
          <p:cNvSpPr/>
          <p:nvPr/>
        </p:nvSpPr>
        <p:spPr>
          <a:xfrm>
            <a:off x="731520" y="217627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Brushes</a:t>
            </a:r>
            <a:endParaRPr lang="en-US" sz="1300" dirty="0"/>
          </a:p>
        </p:txBody>
      </p:sp>
      <p:sp>
        <p:nvSpPr>
          <p:cNvPr id="7" name="Text 5"/>
          <p:cNvSpPr/>
          <p:nvPr/>
        </p:nvSpPr>
        <p:spPr>
          <a:xfrm>
            <a:off x="731520" y="245059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Pen · marker · neon · calligraphy</a:t>
            </a:r>
            <a:endParaRPr lang="en-US" sz="1000" dirty="0"/>
          </a:p>
        </p:txBody>
      </p:sp>
      <p:sp>
        <p:nvSpPr>
          <p:cNvPr id="8" name="Shape 6"/>
          <p:cNvSpPr/>
          <p:nvPr/>
        </p:nvSpPr>
        <p:spPr>
          <a:xfrm>
            <a:off x="2606040" y="1645920"/>
            <a:ext cx="1874520" cy="1234440"/>
          </a:xfrm>
          <a:prstGeom prst="roundRect">
            <a:avLst>
              <a:gd name="adj" fmla="val 7407"/>
            </a:avLst>
          </a:prstGeom>
          <a:solidFill>
            <a:srgbClr val="F4F2EC"/>
          </a:solidFill>
          <a:ln/>
        </p:spPr>
      </p:sp>
      <p:sp>
        <p:nvSpPr>
          <p:cNvPr id="9" name="Shape 7"/>
          <p:cNvSpPr/>
          <p:nvPr/>
        </p:nvSpPr>
        <p:spPr>
          <a:xfrm>
            <a:off x="2788920" y="1828800"/>
            <a:ext cx="310896" cy="310896"/>
          </a:xfrm>
          <a:prstGeom prst="ellipse">
            <a:avLst/>
          </a:prstGeom>
          <a:solidFill>
            <a:srgbClr val="FB6F61"/>
          </a:solidFill>
          <a:ln/>
        </p:spPr>
      </p:sp>
      <p:sp>
        <p:nvSpPr>
          <p:cNvPr id="10" name="Text 8"/>
          <p:cNvSpPr/>
          <p:nvPr/>
        </p:nvSpPr>
        <p:spPr>
          <a:xfrm>
            <a:off x="2788920" y="217627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Eraser</a:t>
            </a:r>
            <a:endParaRPr lang="en-US" sz="1300" dirty="0"/>
          </a:p>
        </p:txBody>
      </p:sp>
      <p:sp>
        <p:nvSpPr>
          <p:cNvPr id="11" name="Text 9"/>
          <p:cNvSpPr/>
          <p:nvPr/>
        </p:nvSpPr>
        <p:spPr>
          <a:xfrm>
            <a:off x="2788920" y="245059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Clears strokes, keeps the background</a:t>
            </a:r>
            <a:endParaRPr lang="en-US" sz="1000" dirty="0"/>
          </a:p>
        </p:txBody>
      </p:sp>
      <p:sp>
        <p:nvSpPr>
          <p:cNvPr id="12" name="Shape 10"/>
          <p:cNvSpPr/>
          <p:nvPr/>
        </p:nvSpPr>
        <p:spPr>
          <a:xfrm>
            <a:off x="4663440" y="1645920"/>
            <a:ext cx="1874520" cy="1234440"/>
          </a:xfrm>
          <a:prstGeom prst="roundRect">
            <a:avLst>
              <a:gd name="adj" fmla="val 7407"/>
            </a:avLst>
          </a:prstGeom>
          <a:solidFill>
            <a:srgbClr val="F4F2EC"/>
          </a:solidFill>
          <a:ln/>
        </p:spPr>
      </p:sp>
      <p:sp>
        <p:nvSpPr>
          <p:cNvPr id="13" name="Shape 11"/>
          <p:cNvSpPr/>
          <p:nvPr/>
        </p:nvSpPr>
        <p:spPr>
          <a:xfrm>
            <a:off x="4846320" y="1828800"/>
            <a:ext cx="310896" cy="310896"/>
          </a:xfrm>
          <a:prstGeom prst="ellipse">
            <a:avLst/>
          </a:prstGeom>
          <a:solidFill>
            <a:srgbClr val="14B8A6"/>
          </a:solidFill>
          <a:ln/>
        </p:spPr>
      </p:sp>
      <p:sp>
        <p:nvSpPr>
          <p:cNvPr id="14" name="Text 12"/>
          <p:cNvSpPr/>
          <p:nvPr/>
        </p:nvSpPr>
        <p:spPr>
          <a:xfrm>
            <a:off x="4846320" y="217627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Shapes</a:t>
            </a:r>
            <a:endParaRPr lang="en-US" sz="1300" dirty="0"/>
          </a:p>
        </p:txBody>
      </p:sp>
      <p:sp>
        <p:nvSpPr>
          <p:cNvPr id="15" name="Text 13"/>
          <p:cNvSpPr/>
          <p:nvPr/>
        </p:nvSpPr>
        <p:spPr>
          <a:xfrm>
            <a:off x="4846320" y="245059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Line · square · circle (1:1)</a:t>
            </a:r>
            <a:endParaRPr lang="en-US" sz="1000" dirty="0"/>
          </a:p>
        </p:txBody>
      </p:sp>
      <p:sp>
        <p:nvSpPr>
          <p:cNvPr id="16" name="Shape 14"/>
          <p:cNvSpPr/>
          <p:nvPr/>
        </p:nvSpPr>
        <p:spPr>
          <a:xfrm>
            <a:off x="6720840" y="1645920"/>
            <a:ext cx="1874520" cy="1234440"/>
          </a:xfrm>
          <a:prstGeom prst="roundRect">
            <a:avLst>
              <a:gd name="adj" fmla="val 7407"/>
            </a:avLst>
          </a:prstGeom>
          <a:solidFill>
            <a:srgbClr val="F4F2EC"/>
          </a:solidFill>
          <a:ln/>
        </p:spPr>
      </p:sp>
      <p:sp>
        <p:nvSpPr>
          <p:cNvPr id="17" name="Shape 15"/>
          <p:cNvSpPr/>
          <p:nvPr/>
        </p:nvSpPr>
        <p:spPr>
          <a:xfrm>
            <a:off x="6903720" y="1828800"/>
            <a:ext cx="310896" cy="310896"/>
          </a:xfrm>
          <a:prstGeom prst="ellipse">
            <a:avLst/>
          </a:prstGeom>
          <a:solidFill>
            <a:srgbClr val="F59E0B"/>
          </a:solidFill>
          <a:ln/>
        </p:spPr>
      </p:sp>
      <p:sp>
        <p:nvSpPr>
          <p:cNvPr id="18" name="Text 16"/>
          <p:cNvSpPr/>
          <p:nvPr/>
        </p:nvSpPr>
        <p:spPr>
          <a:xfrm>
            <a:off x="6903720" y="217627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Line styles</a:t>
            </a:r>
            <a:endParaRPr lang="en-US" sz="1300" dirty="0"/>
          </a:p>
        </p:txBody>
      </p:sp>
      <p:sp>
        <p:nvSpPr>
          <p:cNvPr id="19" name="Text 17"/>
          <p:cNvSpPr/>
          <p:nvPr/>
        </p:nvSpPr>
        <p:spPr>
          <a:xfrm>
            <a:off x="6903720" y="245059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Solid · dotted · dashed · dash-dot</a:t>
            </a:r>
            <a:endParaRPr lang="en-US" sz="1000" dirty="0"/>
          </a:p>
        </p:txBody>
      </p:sp>
      <p:sp>
        <p:nvSpPr>
          <p:cNvPr id="20" name="Shape 18"/>
          <p:cNvSpPr/>
          <p:nvPr/>
        </p:nvSpPr>
        <p:spPr>
          <a:xfrm>
            <a:off x="548640" y="3063240"/>
            <a:ext cx="1874520" cy="1234440"/>
          </a:xfrm>
          <a:prstGeom prst="roundRect">
            <a:avLst>
              <a:gd name="adj" fmla="val 7407"/>
            </a:avLst>
          </a:prstGeom>
          <a:solidFill>
            <a:srgbClr val="F4F2EC"/>
          </a:solidFill>
          <a:ln/>
        </p:spPr>
      </p:sp>
      <p:sp>
        <p:nvSpPr>
          <p:cNvPr id="21" name="Shape 19"/>
          <p:cNvSpPr/>
          <p:nvPr/>
        </p:nvSpPr>
        <p:spPr>
          <a:xfrm>
            <a:off x="731520" y="3246120"/>
            <a:ext cx="310896" cy="310896"/>
          </a:xfrm>
          <a:prstGeom prst="ellipse">
            <a:avLst/>
          </a:prstGeom>
          <a:solidFill>
            <a:srgbClr val="4F46E5"/>
          </a:solidFill>
          <a:ln/>
        </p:spPr>
      </p:sp>
      <p:sp>
        <p:nvSpPr>
          <p:cNvPr id="22" name="Text 20"/>
          <p:cNvSpPr/>
          <p:nvPr/>
        </p:nvSpPr>
        <p:spPr>
          <a:xfrm>
            <a:off x="731520" y="359359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Paint bucket</a:t>
            </a:r>
            <a:endParaRPr lang="en-US" sz="1300" dirty="0"/>
          </a:p>
        </p:txBody>
      </p:sp>
      <p:sp>
        <p:nvSpPr>
          <p:cNvPr id="23" name="Text 21"/>
          <p:cNvSpPr/>
          <p:nvPr/>
        </p:nvSpPr>
        <p:spPr>
          <a:xfrm>
            <a:off x="731520" y="386791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Flood-fill enclosed regions</a:t>
            </a:r>
            <a:endParaRPr lang="en-US" sz="1000" dirty="0"/>
          </a:p>
        </p:txBody>
      </p:sp>
      <p:sp>
        <p:nvSpPr>
          <p:cNvPr id="24" name="Shape 22"/>
          <p:cNvSpPr/>
          <p:nvPr/>
        </p:nvSpPr>
        <p:spPr>
          <a:xfrm>
            <a:off x="2606040" y="3063240"/>
            <a:ext cx="1874520" cy="1234440"/>
          </a:xfrm>
          <a:prstGeom prst="roundRect">
            <a:avLst>
              <a:gd name="adj" fmla="val 7407"/>
            </a:avLst>
          </a:prstGeom>
          <a:solidFill>
            <a:srgbClr val="F4F2EC"/>
          </a:solidFill>
          <a:ln/>
        </p:spPr>
      </p:sp>
      <p:sp>
        <p:nvSpPr>
          <p:cNvPr id="25" name="Shape 23"/>
          <p:cNvSpPr/>
          <p:nvPr/>
        </p:nvSpPr>
        <p:spPr>
          <a:xfrm>
            <a:off x="2788920" y="3246120"/>
            <a:ext cx="310896" cy="310896"/>
          </a:xfrm>
          <a:prstGeom prst="ellipse">
            <a:avLst/>
          </a:prstGeom>
          <a:solidFill>
            <a:srgbClr val="FB6F61"/>
          </a:solidFill>
          <a:ln/>
        </p:spPr>
      </p:sp>
      <p:sp>
        <p:nvSpPr>
          <p:cNvPr id="26" name="Text 24"/>
          <p:cNvSpPr/>
          <p:nvPr/>
        </p:nvSpPr>
        <p:spPr>
          <a:xfrm>
            <a:off x="2788920" y="359359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Backgrounds</a:t>
            </a:r>
            <a:endParaRPr lang="en-US" sz="1300" dirty="0"/>
          </a:p>
        </p:txBody>
      </p:sp>
      <p:sp>
        <p:nvSpPr>
          <p:cNvPr id="27" name="Text 25"/>
          <p:cNvSpPr/>
          <p:nvPr/>
        </p:nvSpPr>
        <p:spPr>
          <a:xfrm>
            <a:off x="2788920" y="386791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Color · patterns · your photo</a:t>
            </a:r>
            <a:endParaRPr lang="en-US" sz="1000" dirty="0"/>
          </a:p>
        </p:txBody>
      </p:sp>
      <p:sp>
        <p:nvSpPr>
          <p:cNvPr id="28" name="Shape 26"/>
          <p:cNvSpPr/>
          <p:nvPr/>
        </p:nvSpPr>
        <p:spPr>
          <a:xfrm>
            <a:off x="4663440" y="3063240"/>
            <a:ext cx="1874520" cy="1234440"/>
          </a:xfrm>
          <a:prstGeom prst="roundRect">
            <a:avLst>
              <a:gd name="adj" fmla="val 7407"/>
            </a:avLst>
          </a:prstGeom>
          <a:solidFill>
            <a:srgbClr val="F4F2EC"/>
          </a:solidFill>
          <a:ln/>
        </p:spPr>
      </p:sp>
      <p:sp>
        <p:nvSpPr>
          <p:cNvPr id="29" name="Shape 27"/>
          <p:cNvSpPr/>
          <p:nvPr/>
        </p:nvSpPr>
        <p:spPr>
          <a:xfrm>
            <a:off x="4846320" y="3246120"/>
            <a:ext cx="310896" cy="310896"/>
          </a:xfrm>
          <a:prstGeom prst="ellipse">
            <a:avLst/>
          </a:prstGeom>
          <a:solidFill>
            <a:srgbClr val="14B8A6"/>
          </a:solidFill>
          <a:ln/>
        </p:spPr>
      </p:sp>
      <p:sp>
        <p:nvSpPr>
          <p:cNvPr id="30" name="Text 28"/>
          <p:cNvSpPr/>
          <p:nvPr/>
        </p:nvSpPr>
        <p:spPr>
          <a:xfrm>
            <a:off x="4846320" y="359359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History</a:t>
            </a:r>
            <a:endParaRPr lang="en-US" sz="1300" dirty="0"/>
          </a:p>
        </p:txBody>
      </p:sp>
      <p:sp>
        <p:nvSpPr>
          <p:cNvPr id="31" name="Text 29"/>
          <p:cNvSpPr/>
          <p:nvPr/>
        </p:nvSpPr>
        <p:spPr>
          <a:xfrm>
            <a:off x="4846320" y="386791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Undo · redo · clear</a:t>
            </a:r>
            <a:endParaRPr lang="en-US" sz="1000" dirty="0"/>
          </a:p>
        </p:txBody>
      </p:sp>
      <p:sp>
        <p:nvSpPr>
          <p:cNvPr id="32" name="Shape 30"/>
          <p:cNvSpPr/>
          <p:nvPr/>
        </p:nvSpPr>
        <p:spPr>
          <a:xfrm>
            <a:off x="6720840" y="3063240"/>
            <a:ext cx="1874520" cy="1234440"/>
          </a:xfrm>
          <a:prstGeom prst="roundRect">
            <a:avLst>
              <a:gd name="adj" fmla="val 7407"/>
            </a:avLst>
          </a:prstGeom>
          <a:solidFill>
            <a:srgbClr val="F4F2EC"/>
          </a:solidFill>
          <a:ln/>
        </p:spPr>
      </p:sp>
      <p:sp>
        <p:nvSpPr>
          <p:cNvPr id="33" name="Shape 31"/>
          <p:cNvSpPr/>
          <p:nvPr/>
        </p:nvSpPr>
        <p:spPr>
          <a:xfrm>
            <a:off x="6903720" y="3246120"/>
            <a:ext cx="310896" cy="310896"/>
          </a:xfrm>
          <a:prstGeom prst="ellipse">
            <a:avLst/>
          </a:prstGeom>
          <a:solidFill>
            <a:srgbClr val="F59E0B"/>
          </a:solidFill>
          <a:ln/>
        </p:spPr>
      </p:sp>
      <p:sp>
        <p:nvSpPr>
          <p:cNvPr id="34" name="Text 32"/>
          <p:cNvSpPr/>
          <p:nvPr/>
        </p:nvSpPr>
        <p:spPr>
          <a:xfrm>
            <a:off x="6903720" y="3593592"/>
            <a:ext cx="1554480" cy="27432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Export &amp; share</a:t>
            </a:r>
            <a:endParaRPr lang="en-US" sz="1300" dirty="0"/>
          </a:p>
        </p:txBody>
      </p:sp>
      <p:sp>
        <p:nvSpPr>
          <p:cNvPr id="35" name="Text 33"/>
          <p:cNvSpPr/>
          <p:nvPr/>
        </p:nvSpPr>
        <p:spPr>
          <a:xfrm>
            <a:off x="6903720" y="3867912"/>
            <a:ext cx="1600200" cy="36576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One call to a PNG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E"/>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8E86F5"/>
                </a:solidFill>
                <a:latin typeface="Calibri" pitchFamily="34" charset="0"/>
                <a:ea typeface="Calibri" pitchFamily="34" charset="-122"/>
                <a:cs typeface="Calibri" pitchFamily="34" charset="-120"/>
              </a:rPr>
              <a:t>HOW EASY IT IS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Drop in two composables</a:t>
            </a:r>
            <a:endParaRPr lang="en-US" sz="3200" dirty="0"/>
          </a:p>
        </p:txBody>
      </p:sp>
      <p:sp>
        <p:nvSpPr>
          <p:cNvPr id="4" name="Shape 2"/>
          <p:cNvSpPr/>
          <p:nvPr/>
        </p:nvSpPr>
        <p:spPr>
          <a:xfrm>
            <a:off x="548640" y="1691640"/>
            <a:ext cx="8046720" cy="2468880"/>
          </a:xfrm>
          <a:prstGeom prst="roundRect">
            <a:avLst>
              <a:gd name="adj" fmla="val 4444"/>
            </a:avLst>
          </a:prstGeom>
          <a:solidFill>
            <a:srgbClr val="17171D"/>
          </a:solidFill>
          <a:ln/>
        </p:spPr>
      </p:sp>
      <p:sp>
        <p:nvSpPr>
          <p:cNvPr id="5" name="Text 3"/>
          <p:cNvSpPr/>
          <p:nvPr/>
        </p:nvSpPr>
        <p:spPr>
          <a:xfrm>
            <a:off x="914400" y="1965960"/>
            <a:ext cx="7315200" cy="192024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Courier New" pitchFamily="34" charset="0"/>
                <a:ea typeface="Courier New" pitchFamily="34" charset="-122"/>
                <a:cs typeface="Courier New" pitchFamily="34" charset="-120"/>
              </a:rPr>
              <a:t>val state = rememberEzCanvasState()
</a:t>
            </a:r>
            <a:endParaRPr lang="en-US" sz="1600" dirty="0"/>
          </a:p>
          <a:p>
            <a:pPr indent="0" marL="0">
              <a:lnSpc>
                <a:spcPct val="115000"/>
              </a:lnSpc>
              <a:buNone/>
            </a:pPr>
            <a:r>
              <a:rPr lang="en-US" sz="800" dirty="0">
                <a:solidFill>
                  <a:srgbClr val="0C0C0E"/>
                </a:solidFill>
                <a:latin typeface="Courier New" pitchFamily="34" charset="0"/>
                <a:ea typeface="Courier New" pitchFamily="34" charset="-122"/>
                <a:cs typeface="Courier New" pitchFamily="34" charset="-120"/>
              </a:rPr>
              <a:t>
</a:t>
            </a:r>
            <a:endParaRPr lang="en-US" sz="1600" dirty="0"/>
          </a:p>
          <a:p>
            <a:pPr indent="0" marL="0">
              <a:lnSpc>
                <a:spcPct val="115000"/>
              </a:lnSpc>
              <a:buNone/>
            </a:pPr>
            <a:r>
              <a:rPr lang="en-US" sz="1600" dirty="0">
                <a:solidFill>
                  <a:srgbClr val="FFFFFF"/>
                </a:solidFill>
                <a:latin typeface="Courier New" pitchFamily="34" charset="0"/>
                <a:ea typeface="Courier New" pitchFamily="34" charset="-122"/>
                <a:cs typeface="Courier New" pitchFamily="34" charset="-120"/>
              </a:rPr>
              <a:t>Column {
</a:t>
            </a:r>
            <a:endParaRPr lang="en-US" sz="1600" dirty="0"/>
          </a:p>
          <a:p>
            <a:pPr indent="0" marL="0">
              <a:lnSpc>
                <a:spcPct val="115000"/>
              </a:lnSpc>
              <a:buNone/>
            </a:pPr>
            <a:r>
              <a:rPr lang="en-US" sz="1600" dirty="0">
                <a:solidFill>
                  <a:srgbClr val="8E86F5"/>
                </a:solidFill>
                <a:latin typeface="Courier New" pitchFamily="34" charset="0"/>
                <a:ea typeface="Courier New" pitchFamily="34" charset="-122"/>
                <a:cs typeface="Courier New" pitchFamily="34" charset="-120"/>
              </a:rPr>
              <a:t>    EzCanvas</a:t>
            </a:r>
            <a:pPr indent="0" marL="0">
              <a:lnSpc>
                <a:spcPct val="115000"/>
              </a:lnSpc>
              <a:buNone/>
            </a:pPr>
            <a:r>
              <a:rPr lang="en-US" sz="1600" dirty="0">
                <a:solidFill>
                  <a:srgbClr val="FFFFFF"/>
                </a:solidFill>
                <a:latin typeface="Courier New" pitchFamily="34" charset="0"/>
                <a:ea typeface="Courier New" pitchFamily="34" charset="-122"/>
                <a:cs typeface="Courier New" pitchFamily="34" charset="-120"/>
              </a:rPr>
              <a:t>(state, Modifier.weight(1f).fillMaxWidth())
</a:t>
            </a:r>
            <a:endParaRPr lang="en-US" sz="1600" dirty="0"/>
          </a:p>
          <a:p>
            <a:pPr indent="0" marL="0">
              <a:lnSpc>
                <a:spcPct val="115000"/>
              </a:lnSpc>
              <a:buNone/>
            </a:pPr>
            <a:r>
              <a:rPr lang="en-US" sz="1600" dirty="0">
                <a:solidFill>
                  <a:srgbClr val="8E86F5"/>
                </a:solidFill>
                <a:latin typeface="Courier New" pitchFamily="34" charset="0"/>
                <a:ea typeface="Courier New" pitchFamily="34" charset="-122"/>
                <a:cs typeface="Courier New" pitchFamily="34" charset="-120"/>
              </a:rPr>
              <a:t>    EzToolbar</a:t>
            </a:r>
            <a:pPr indent="0" marL="0">
              <a:lnSpc>
                <a:spcPct val="115000"/>
              </a:lnSpc>
              <a:buNone/>
            </a:pPr>
            <a:r>
              <a:rPr lang="en-US" sz="1600" dirty="0">
                <a:solidFill>
                  <a:srgbClr val="FFFFFF"/>
                </a:solidFill>
                <a:latin typeface="Courier New" pitchFamily="34" charset="0"/>
                <a:ea typeface="Courier New" pitchFamily="34" charset="-122"/>
                <a:cs typeface="Courier New" pitchFamily="34" charset="-120"/>
              </a:rPr>
              <a:t>(state)   // complete, configurable toolbar
</a:t>
            </a:r>
            <a:endParaRPr lang="en-US" sz="1600" dirty="0"/>
          </a:p>
          <a:p>
            <a:pPr indent="0" marL="0">
              <a:lnSpc>
                <a:spcPct val="11500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6" name="Text 4"/>
          <p:cNvSpPr/>
          <p:nvPr/>
        </p:nvSpPr>
        <p:spPr>
          <a:xfrm>
            <a:off x="548640" y="4343400"/>
            <a:ext cx="8046720" cy="365760"/>
          </a:xfrm>
          <a:prstGeom prst="rect">
            <a:avLst/>
          </a:prstGeom>
          <a:noFill/>
          <a:ln/>
        </p:spPr>
        <p:txBody>
          <a:bodyPr wrap="square" lIns="0" tIns="0" rIns="0" bIns="0" rtlCol="0" anchor="ctr"/>
          <a:lstStyle/>
          <a:p>
            <a:pPr indent="0" marL="0">
              <a:buNone/>
            </a:pPr>
            <a:r>
              <a:rPr lang="en-US" sz="1400" dirty="0">
                <a:solidFill>
                  <a:srgbClr val="9B988F"/>
                </a:solidFill>
                <a:latin typeface="Calibri" pitchFamily="34" charset="0"/>
                <a:ea typeface="Calibri" pitchFamily="34" charset="-122"/>
                <a:cs typeface="Calibri" pitchFamily="34" charset="-120"/>
              </a:rPr>
              <a:t>Enable the tools and controls you want — the toolbar renders the rest.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FB6F61"/>
                </a:solidFill>
                <a:latin typeface="Calibri" pitchFamily="34" charset="0"/>
                <a:ea typeface="Calibri" pitchFamily="34" charset="-122"/>
                <a:cs typeface="Calibri" pitchFamily="34" charset="-120"/>
              </a:rPr>
              <a:t>THE DEMO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Seven products, one library</a:t>
            </a:r>
            <a:endParaRPr lang="en-US" sz="3200" dirty="0"/>
          </a:p>
        </p:txBody>
      </p:sp>
      <p:sp>
        <p:nvSpPr>
          <p:cNvPr id="4" name="Shape 2"/>
          <p:cNvSpPr/>
          <p:nvPr/>
        </p:nvSpPr>
        <p:spPr>
          <a:xfrm>
            <a:off x="548640" y="1645920"/>
            <a:ext cx="1874520" cy="1234440"/>
          </a:xfrm>
          <a:prstGeom prst="roundRect">
            <a:avLst>
              <a:gd name="adj" fmla="val 7407"/>
            </a:avLst>
          </a:prstGeom>
          <a:solidFill>
            <a:srgbClr val="F4F2EC"/>
          </a:solidFill>
          <a:ln/>
          <a:effectLst>
            <a:outerShdw sx="100000" sy="100000" kx="0" ky="0" algn="bl" rotWithShape="0" blurRad="101600" dist="38100" dir="5400000">
              <a:srgbClr val="000000">
                <a:alpha val="13000"/>
              </a:srgbClr>
            </a:outerShdw>
          </a:effectLst>
        </p:spPr>
      </p:sp>
      <p:sp>
        <p:nvSpPr>
          <p:cNvPr id="5" name="Shape 3"/>
          <p:cNvSpPr/>
          <p:nvPr/>
        </p:nvSpPr>
        <p:spPr>
          <a:xfrm>
            <a:off x="749808" y="2148840"/>
            <a:ext cx="640080" cy="-256032"/>
          </a:xfrm>
          <a:prstGeom prst="line">
            <a:avLst/>
          </a:prstGeom>
          <a:noFill/>
          <a:ln w="50800">
            <a:solidFill>
              <a:srgbClr val="0C0C0E"/>
            </a:solidFill>
            <a:prstDash val="solid"/>
          </a:ln>
        </p:spPr>
      </p:sp>
      <p:sp>
        <p:nvSpPr>
          <p:cNvPr id="6" name="Shape 4"/>
          <p:cNvSpPr/>
          <p:nvPr/>
        </p:nvSpPr>
        <p:spPr>
          <a:xfrm>
            <a:off x="1508760" y="1847088"/>
            <a:ext cx="411480" cy="411480"/>
          </a:xfrm>
          <a:prstGeom prst="ellipse">
            <a:avLst/>
          </a:prstGeom>
          <a:ln w="38100">
            <a:solidFill>
              <a:srgbClr val="0C0C0E"/>
            </a:solidFill>
            <a:prstDash val="solid"/>
          </a:ln>
        </p:spPr>
      </p:sp>
      <p:sp>
        <p:nvSpPr>
          <p:cNvPr id="7" name="Text 5"/>
          <p:cNvSpPr/>
          <p:nvPr/>
        </p:nvSpPr>
        <p:spPr>
          <a:xfrm>
            <a:off x="731520" y="2304288"/>
            <a:ext cx="1554480" cy="274320"/>
          </a:xfrm>
          <a:prstGeom prst="rect">
            <a:avLst/>
          </a:prstGeom>
          <a:noFill/>
          <a:ln/>
        </p:spPr>
        <p:txBody>
          <a:bodyPr wrap="square" lIns="0" tIns="0" rIns="0" bIns="0" rtlCol="0" anchor="ctr"/>
          <a:lstStyle/>
          <a:p>
            <a:pPr indent="0" marL="0">
              <a:buNone/>
            </a:pPr>
            <a:r>
              <a:rPr lang="en-US" sz="1200" b="1" dirty="0">
                <a:solidFill>
                  <a:srgbClr val="0C0C0E"/>
                </a:solidFill>
                <a:latin typeface="Calibri" pitchFamily="34" charset="0"/>
                <a:ea typeface="Calibri" pitchFamily="34" charset="-122"/>
                <a:cs typeface="Calibri" pitchFamily="34" charset="-120"/>
              </a:rPr>
              <a:t>Signature Pad</a:t>
            </a:r>
            <a:endParaRPr lang="en-US" sz="1200" dirty="0"/>
          </a:p>
        </p:txBody>
      </p:sp>
      <p:sp>
        <p:nvSpPr>
          <p:cNvPr id="8" name="Text 6"/>
          <p:cNvSpPr/>
          <p:nvPr/>
        </p:nvSpPr>
        <p:spPr>
          <a:xfrm>
            <a:off x="731520" y="2560320"/>
            <a:ext cx="1600200" cy="27432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Pen · export</a:t>
            </a:r>
            <a:endParaRPr lang="en-US" sz="1000" dirty="0"/>
          </a:p>
        </p:txBody>
      </p:sp>
      <p:sp>
        <p:nvSpPr>
          <p:cNvPr id="9" name="Shape 7"/>
          <p:cNvSpPr/>
          <p:nvPr/>
        </p:nvSpPr>
        <p:spPr>
          <a:xfrm>
            <a:off x="2606040" y="1645920"/>
            <a:ext cx="1874520" cy="1234440"/>
          </a:xfrm>
          <a:prstGeom prst="roundRect">
            <a:avLst>
              <a:gd name="adj" fmla="val 7407"/>
            </a:avLst>
          </a:prstGeom>
          <a:solidFill>
            <a:srgbClr val="F4F2EC"/>
          </a:solidFill>
          <a:ln/>
          <a:effectLst>
            <a:outerShdw sx="100000" sy="100000" kx="0" ky="0" algn="bl" rotWithShape="0" blurRad="101600" dist="38100" dir="5400000">
              <a:srgbClr val="000000">
                <a:alpha val="13000"/>
              </a:srgbClr>
            </a:outerShdw>
          </a:effectLst>
        </p:spPr>
      </p:sp>
      <p:sp>
        <p:nvSpPr>
          <p:cNvPr id="10" name="Shape 8"/>
          <p:cNvSpPr/>
          <p:nvPr/>
        </p:nvSpPr>
        <p:spPr>
          <a:xfrm>
            <a:off x="2807208" y="2148840"/>
            <a:ext cx="640080" cy="-256032"/>
          </a:xfrm>
          <a:prstGeom prst="line">
            <a:avLst/>
          </a:prstGeom>
          <a:noFill/>
          <a:ln w="50800">
            <a:solidFill>
              <a:srgbClr val="FB6F61"/>
            </a:solidFill>
            <a:prstDash val="solid"/>
          </a:ln>
        </p:spPr>
      </p:sp>
      <p:sp>
        <p:nvSpPr>
          <p:cNvPr id="11" name="Shape 9"/>
          <p:cNvSpPr/>
          <p:nvPr/>
        </p:nvSpPr>
        <p:spPr>
          <a:xfrm>
            <a:off x="3566160" y="1847088"/>
            <a:ext cx="411480" cy="411480"/>
          </a:xfrm>
          <a:prstGeom prst="ellipse">
            <a:avLst/>
          </a:prstGeom>
          <a:ln w="38100">
            <a:solidFill>
              <a:srgbClr val="FB6F61"/>
            </a:solidFill>
            <a:prstDash val="solid"/>
          </a:ln>
        </p:spPr>
      </p:sp>
      <p:sp>
        <p:nvSpPr>
          <p:cNvPr id="12" name="Text 10"/>
          <p:cNvSpPr/>
          <p:nvPr/>
        </p:nvSpPr>
        <p:spPr>
          <a:xfrm>
            <a:off x="2788920" y="2304288"/>
            <a:ext cx="1554480" cy="274320"/>
          </a:xfrm>
          <a:prstGeom prst="rect">
            <a:avLst/>
          </a:prstGeom>
          <a:noFill/>
          <a:ln/>
        </p:spPr>
        <p:txBody>
          <a:bodyPr wrap="square" lIns="0" tIns="0" rIns="0" bIns="0" rtlCol="0" anchor="ctr"/>
          <a:lstStyle/>
          <a:p>
            <a:pPr indent="0" marL="0">
              <a:buNone/>
            </a:pPr>
            <a:r>
              <a:rPr lang="en-US" sz="1200" b="1" dirty="0">
                <a:solidFill>
                  <a:srgbClr val="0C0C0E"/>
                </a:solidFill>
                <a:latin typeface="Calibri" pitchFamily="34" charset="0"/>
                <a:ea typeface="Calibri" pitchFamily="34" charset="-122"/>
                <a:cs typeface="Calibri" pitchFamily="34" charset="-120"/>
              </a:rPr>
              <a:t>Kids Doodle</a:t>
            </a:r>
            <a:endParaRPr lang="en-US" sz="1200" dirty="0"/>
          </a:p>
        </p:txBody>
      </p:sp>
      <p:sp>
        <p:nvSpPr>
          <p:cNvPr id="13" name="Text 11"/>
          <p:cNvSpPr/>
          <p:nvPr/>
        </p:nvSpPr>
        <p:spPr>
          <a:xfrm>
            <a:off x="2788920" y="2560320"/>
            <a:ext cx="1600200" cy="27432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Fat brushes · fill</a:t>
            </a:r>
            <a:endParaRPr lang="en-US" sz="1000" dirty="0"/>
          </a:p>
        </p:txBody>
      </p:sp>
      <p:sp>
        <p:nvSpPr>
          <p:cNvPr id="14" name="Shape 12"/>
          <p:cNvSpPr/>
          <p:nvPr/>
        </p:nvSpPr>
        <p:spPr>
          <a:xfrm>
            <a:off x="4663440" y="1645920"/>
            <a:ext cx="1874520" cy="1234440"/>
          </a:xfrm>
          <a:prstGeom prst="roundRect">
            <a:avLst>
              <a:gd name="adj" fmla="val 7407"/>
            </a:avLst>
          </a:prstGeom>
          <a:solidFill>
            <a:srgbClr val="F4F2EC"/>
          </a:solidFill>
          <a:ln/>
          <a:effectLst>
            <a:outerShdw sx="100000" sy="100000" kx="0" ky="0" algn="bl" rotWithShape="0" blurRad="101600" dist="38100" dir="5400000">
              <a:srgbClr val="000000">
                <a:alpha val="13000"/>
              </a:srgbClr>
            </a:outerShdw>
          </a:effectLst>
        </p:spPr>
      </p:sp>
      <p:sp>
        <p:nvSpPr>
          <p:cNvPr id="15" name="Shape 13"/>
          <p:cNvSpPr/>
          <p:nvPr/>
        </p:nvSpPr>
        <p:spPr>
          <a:xfrm>
            <a:off x="4864608" y="2148840"/>
            <a:ext cx="640080" cy="-256032"/>
          </a:xfrm>
          <a:prstGeom prst="line">
            <a:avLst/>
          </a:prstGeom>
          <a:noFill/>
          <a:ln w="50800">
            <a:solidFill>
              <a:srgbClr val="4F46E5"/>
            </a:solidFill>
            <a:prstDash val="solid"/>
          </a:ln>
        </p:spPr>
      </p:sp>
      <p:sp>
        <p:nvSpPr>
          <p:cNvPr id="16" name="Shape 14"/>
          <p:cNvSpPr/>
          <p:nvPr/>
        </p:nvSpPr>
        <p:spPr>
          <a:xfrm>
            <a:off x="5623560" y="1847088"/>
            <a:ext cx="411480" cy="411480"/>
          </a:xfrm>
          <a:prstGeom prst="ellipse">
            <a:avLst/>
          </a:prstGeom>
          <a:ln w="38100">
            <a:solidFill>
              <a:srgbClr val="4F46E5"/>
            </a:solidFill>
            <a:prstDash val="solid"/>
          </a:ln>
        </p:spPr>
      </p:sp>
      <p:sp>
        <p:nvSpPr>
          <p:cNvPr id="17" name="Text 15"/>
          <p:cNvSpPr/>
          <p:nvPr/>
        </p:nvSpPr>
        <p:spPr>
          <a:xfrm>
            <a:off x="4846320" y="2304288"/>
            <a:ext cx="1554480" cy="274320"/>
          </a:xfrm>
          <a:prstGeom prst="rect">
            <a:avLst/>
          </a:prstGeom>
          <a:noFill/>
          <a:ln/>
        </p:spPr>
        <p:txBody>
          <a:bodyPr wrap="square" lIns="0" tIns="0" rIns="0" bIns="0" rtlCol="0" anchor="ctr"/>
          <a:lstStyle/>
          <a:p>
            <a:pPr indent="0" marL="0">
              <a:buNone/>
            </a:pPr>
            <a:r>
              <a:rPr lang="en-US" sz="1200" b="1" dirty="0">
                <a:solidFill>
                  <a:srgbClr val="0C0C0E"/>
                </a:solidFill>
                <a:latin typeface="Calibri" pitchFamily="34" charset="0"/>
                <a:ea typeface="Calibri" pitchFamily="34" charset="-122"/>
                <a:cs typeface="Calibri" pitchFamily="34" charset="-120"/>
              </a:rPr>
              <a:t>Painting Studio</a:t>
            </a:r>
            <a:endParaRPr lang="en-US" sz="1200" dirty="0"/>
          </a:p>
        </p:txBody>
      </p:sp>
      <p:sp>
        <p:nvSpPr>
          <p:cNvPr id="18" name="Text 16"/>
          <p:cNvSpPr/>
          <p:nvPr/>
        </p:nvSpPr>
        <p:spPr>
          <a:xfrm>
            <a:off x="4846320" y="2560320"/>
            <a:ext cx="1600200" cy="27432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Everything on</a:t>
            </a:r>
            <a:endParaRPr lang="en-US" sz="1000" dirty="0"/>
          </a:p>
        </p:txBody>
      </p:sp>
      <p:sp>
        <p:nvSpPr>
          <p:cNvPr id="19" name="Shape 17"/>
          <p:cNvSpPr/>
          <p:nvPr/>
        </p:nvSpPr>
        <p:spPr>
          <a:xfrm>
            <a:off x="6720840" y="1645920"/>
            <a:ext cx="1874520" cy="1234440"/>
          </a:xfrm>
          <a:prstGeom prst="roundRect">
            <a:avLst>
              <a:gd name="adj" fmla="val 7407"/>
            </a:avLst>
          </a:prstGeom>
          <a:solidFill>
            <a:srgbClr val="F4F2EC"/>
          </a:solidFill>
          <a:ln/>
          <a:effectLst>
            <a:outerShdw sx="100000" sy="100000" kx="0" ky="0" algn="bl" rotWithShape="0" blurRad="101600" dist="38100" dir="5400000">
              <a:srgbClr val="000000">
                <a:alpha val="13000"/>
              </a:srgbClr>
            </a:outerShdw>
          </a:effectLst>
        </p:spPr>
      </p:sp>
      <p:sp>
        <p:nvSpPr>
          <p:cNvPr id="20" name="Shape 18"/>
          <p:cNvSpPr/>
          <p:nvPr/>
        </p:nvSpPr>
        <p:spPr>
          <a:xfrm>
            <a:off x="6922008" y="2148840"/>
            <a:ext cx="640080" cy="-256032"/>
          </a:xfrm>
          <a:prstGeom prst="line">
            <a:avLst/>
          </a:prstGeom>
          <a:noFill/>
          <a:ln w="50800">
            <a:solidFill>
              <a:srgbClr val="14B8A6"/>
            </a:solidFill>
            <a:prstDash val="solid"/>
          </a:ln>
        </p:spPr>
      </p:sp>
      <p:sp>
        <p:nvSpPr>
          <p:cNvPr id="21" name="Shape 19"/>
          <p:cNvSpPr/>
          <p:nvPr/>
        </p:nvSpPr>
        <p:spPr>
          <a:xfrm>
            <a:off x="7680960" y="1847088"/>
            <a:ext cx="411480" cy="411480"/>
          </a:xfrm>
          <a:prstGeom prst="ellipse">
            <a:avLst/>
          </a:prstGeom>
          <a:ln w="38100">
            <a:solidFill>
              <a:srgbClr val="14B8A6"/>
            </a:solidFill>
            <a:prstDash val="solid"/>
          </a:ln>
        </p:spPr>
      </p:sp>
      <p:sp>
        <p:nvSpPr>
          <p:cNvPr id="22" name="Text 20"/>
          <p:cNvSpPr/>
          <p:nvPr/>
        </p:nvSpPr>
        <p:spPr>
          <a:xfrm>
            <a:off x="6903720" y="2304288"/>
            <a:ext cx="1554480" cy="274320"/>
          </a:xfrm>
          <a:prstGeom prst="rect">
            <a:avLst/>
          </a:prstGeom>
          <a:noFill/>
          <a:ln/>
        </p:spPr>
        <p:txBody>
          <a:bodyPr wrap="square" lIns="0" tIns="0" rIns="0" bIns="0" rtlCol="0" anchor="ctr"/>
          <a:lstStyle/>
          <a:p>
            <a:pPr indent="0" marL="0">
              <a:buNone/>
            </a:pPr>
            <a:r>
              <a:rPr lang="en-US" sz="1200" b="1" dirty="0">
                <a:solidFill>
                  <a:srgbClr val="0C0C0E"/>
                </a:solidFill>
                <a:latin typeface="Calibri" pitchFamily="34" charset="0"/>
                <a:ea typeface="Calibri" pitchFamily="34" charset="-122"/>
                <a:cs typeface="Calibri" pitchFamily="34" charset="-120"/>
              </a:rPr>
              <a:t>Photo Markup</a:t>
            </a:r>
            <a:endParaRPr lang="en-US" sz="1200" dirty="0"/>
          </a:p>
        </p:txBody>
      </p:sp>
      <p:sp>
        <p:nvSpPr>
          <p:cNvPr id="23" name="Text 21"/>
          <p:cNvSpPr/>
          <p:nvPr/>
        </p:nvSpPr>
        <p:spPr>
          <a:xfrm>
            <a:off x="6903720" y="2560320"/>
            <a:ext cx="1600200" cy="27432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Shapes on a photo</a:t>
            </a:r>
            <a:endParaRPr lang="en-US" sz="1000" dirty="0"/>
          </a:p>
        </p:txBody>
      </p:sp>
      <p:sp>
        <p:nvSpPr>
          <p:cNvPr id="24" name="Shape 22"/>
          <p:cNvSpPr/>
          <p:nvPr/>
        </p:nvSpPr>
        <p:spPr>
          <a:xfrm>
            <a:off x="548640" y="3063240"/>
            <a:ext cx="1874520" cy="1234440"/>
          </a:xfrm>
          <a:prstGeom prst="roundRect">
            <a:avLst>
              <a:gd name="adj" fmla="val 7407"/>
            </a:avLst>
          </a:prstGeom>
          <a:solidFill>
            <a:srgbClr val="F4F2EC"/>
          </a:solidFill>
          <a:ln/>
          <a:effectLst>
            <a:outerShdw sx="100000" sy="100000" kx="0" ky="0" algn="bl" rotWithShape="0" blurRad="101600" dist="38100" dir="5400000">
              <a:srgbClr val="000000">
                <a:alpha val="13000"/>
              </a:srgbClr>
            </a:outerShdw>
          </a:effectLst>
        </p:spPr>
      </p:sp>
      <p:sp>
        <p:nvSpPr>
          <p:cNvPr id="25" name="Shape 23"/>
          <p:cNvSpPr/>
          <p:nvPr/>
        </p:nvSpPr>
        <p:spPr>
          <a:xfrm>
            <a:off x="749808" y="3566160"/>
            <a:ext cx="640080" cy="-256032"/>
          </a:xfrm>
          <a:prstGeom prst="line">
            <a:avLst/>
          </a:prstGeom>
          <a:noFill/>
          <a:ln w="50800">
            <a:solidFill>
              <a:srgbClr val="F59E0B"/>
            </a:solidFill>
            <a:prstDash val="solid"/>
          </a:ln>
        </p:spPr>
      </p:sp>
      <p:sp>
        <p:nvSpPr>
          <p:cNvPr id="26" name="Shape 24"/>
          <p:cNvSpPr/>
          <p:nvPr/>
        </p:nvSpPr>
        <p:spPr>
          <a:xfrm>
            <a:off x="1508760" y="3264408"/>
            <a:ext cx="411480" cy="411480"/>
          </a:xfrm>
          <a:prstGeom prst="ellipse">
            <a:avLst/>
          </a:prstGeom>
          <a:ln w="38100">
            <a:solidFill>
              <a:srgbClr val="F59E0B"/>
            </a:solidFill>
            <a:prstDash val="solid"/>
          </a:ln>
        </p:spPr>
      </p:sp>
      <p:sp>
        <p:nvSpPr>
          <p:cNvPr id="27" name="Text 25"/>
          <p:cNvSpPr/>
          <p:nvPr/>
        </p:nvSpPr>
        <p:spPr>
          <a:xfrm>
            <a:off x="731520" y="3721608"/>
            <a:ext cx="1554480" cy="274320"/>
          </a:xfrm>
          <a:prstGeom prst="rect">
            <a:avLst/>
          </a:prstGeom>
          <a:noFill/>
          <a:ln/>
        </p:spPr>
        <p:txBody>
          <a:bodyPr wrap="square" lIns="0" tIns="0" rIns="0" bIns="0" rtlCol="0" anchor="ctr"/>
          <a:lstStyle/>
          <a:p>
            <a:pPr indent="0" marL="0">
              <a:buNone/>
            </a:pPr>
            <a:r>
              <a:rPr lang="en-US" sz="1200" b="1" dirty="0">
                <a:solidFill>
                  <a:srgbClr val="0C0C0E"/>
                </a:solidFill>
                <a:latin typeface="Calibri" pitchFamily="34" charset="0"/>
                <a:ea typeface="Calibri" pitchFamily="34" charset="-122"/>
                <a:cs typeface="Calibri" pitchFamily="34" charset="-120"/>
              </a:rPr>
              <a:t>Whiteboard</a:t>
            </a:r>
            <a:endParaRPr lang="en-US" sz="1200" dirty="0"/>
          </a:p>
        </p:txBody>
      </p:sp>
      <p:sp>
        <p:nvSpPr>
          <p:cNvPr id="28" name="Text 26"/>
          <p:cNvSpPr/>
          <p:nvPr/>
        </p:nvSpPr>
        <p:spPr>
          <a:xfrm>
            <a:off x="731520" y="3977640"/>
            <a:ext cx="1600200" cy="27432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Shapes · grid</a:t>
            </a:r>
            <a:endParaRPr lang="en-US" sz="1000" dirty="0"/>
          </a:p>
        </p:txBody>
      </p:sp>
      <p:sp>
        <p:nvSpPr>
          <p:cNvPr id="29" name="Shape 27"/>
          <p:cNvSpPr/>
          <p:nvPr/>
        </p:nvSpPr>
        <p:spPr>
          <a:xfrm>
            <a:off x="2606040" y="3063240"/>
            <a:ext cx="1874520" cy="1234440"/>
          </a:xfrm>
          <a:prstGeom prst="roundRect">
            <a:avLst>
              <a:gd name="adj" fmla="val 7407"/>
            </a:avLst>
          </a:prstGeom>
          <a:solidFill>
            <a:srgbClr val="F4F2EC"/>
          </a:solidFill>
          <a:ln/>
          <a:effectLst>
            <a:outerShdw sx="100000" sy="100000" kx="0" ky="0" algn="bl" rotWithShape="0" blurRad="101600" dist="38100" dir="5400000">
              <a:srgbClr val="000000">
                <a:alpha val="13000"/>
              </a:srgbClr>
            </a:outerShdw>
          </a:effectLst>
        </p:spPr>
      </p:sp>
      <p:sp>
        <p:nvSpPr>
          <p:cNvPr id="30" name="Shape 28"/>
          <p:cNvSpPr/>
          <p:nvPr/>
        </p:nvSpPr>
        <p:spPr>
          <a:xfrm>
            <a:off x="2807208" y="3566160"/>
            <a:ext cx="640080" cy="-256032"/>
          </a:xfrm>
          <a:prstGeom prst="line">
            <a:avLst/>
          </a:prstGeom>
          <a:noFill/>
          <a:ln w="50800">
            <a:solidFill>
              <a:srgbClr val="4F46E5"/>
            </a:solidFill>
            <a:prstDash val="solid"/>
          </a:ln>
        </p:spPr>
      </p:sp>
      <p:sp>
        <p:nvSpPr>
          <p:cNvPr id="31" name="Shape 29"/>
          <p:cNvSpPr/>
          <p:nvPr/>
        </p:nvSpPr>
        <p:spPr>
          <a:xfrm>
            <a:off x="3566160" y="3264408"/>
            <a:ext cx="411480" cy="411480"/>
          </a:xfrm>
          <a:prstGeom prst="ellipse">
            <a:avLst/>
          </a:prstGeom>
          <a:ln w="38100">
            <a:solidFill>
              <a:srgbClr val="4F46E5"/>
            </a:solidFill>
            <a:prstDash val="solid"/>
          </a:ln>
        </p:spPr>
      </p:sp>
      <p:sp>
        <p:nvSpPr>
          <p:cNvPr id="32" name="Text 30"/>
          <p:cNvSpPr/>
          <p:nvPr/>
        </p:nvSpPr>
        <p:spPr>
          <a:xfrm>
            <a:off x="2788920" y="3721608"/>
            <a:ext cx="1554480" cy="274320"/>
          </a:xfrm>
          <a:prstGeom prst="rect">
            <a:avLst/>
          </a:prstGeom>
          <a:noFill/>
          <a:ln/>
        </p:spPr>
        <p:txBody>
          <a:bodyPr wrap="square" lIns="0" tIns="0" rIns="0" bIns="0" rtlCol="0" anchor="ctr"/>
          <a:lstStyle/>
          <a:p>
            <a:pPr indent="0" marL="0">
              <a:buNone/>
            </a:pPr>
            <a:r>
              <a:rPr lang="en-US" sz="1200" b="1" dirty="0">
                <a:solidFill>
                  <a:srgbClr val="0C0C0E"/>
                </a:solidFill>
                <a:latin typeface="Calibri" pitchFamily="34" charset="0"/>
                <a:ea typeface="Calibri" pitchFamily="34" charset="-122"/>
                <a:cs typeface="Calibri" pitchFamily="34" charset="-120"/>
              </a:rPr>
              <a:t>Drawing Game</a:t>
            </a:r>
            <a:endParaRPr lang="en-US" sz="1200" dirty="0"/>
          </a:p>
        </p:txBody>
      </p:sp>
      <p:sp>
        <p:nvSpPr>
          <p:cNvPr id="33" name="Text 31"/>
          <p:cNvSpPr/>
          <p:nvPr/>
        </p:nvSpPr>
        <p:spPr>
          <a:xfrm>
            <a:off x="2788920" y="3977640"/>
            <a:ext cx="1600200" cy="27432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One pen · fast</a:t>
            </a:r>
            <a:endParaRPr lang="en-US" sz="1000" dirty="0"/>
          </a:p>
        </p:txBody>
      </p:sp>
      <p:sp>
        <p:nvSpPr>
          <p:cNvPr id="34" name="Shape 32"/>
          <p:cNvSpPr/>
          <p:nvPr/>
        </p:nvSpPr>
        <p:spPr>
          <a:xfrm>
            <a:off x="4663440" y="3063240"/>
            <a:ext cx="1874520" cy="1234440"/>
          </a:xfrm>
          <a:prstGeom prst="roundRect">
            <a:avLst>
              <a:gd name="adj" fmla="val 7407"/>
            </a:avLst>
          </a:prstGeom>
          <a:solidFill>
            <a:srgbClr val="F4F2EC"/>
          </a:solidFill>
          <a:ln/>
          <a:effectLst>
            <a:outerShdw sx="100000" sy="100000" kx="0" ky="0" algn="bl" rotWithShape="0" blurRad="101600" dist="38100" dir="5400000">
              <a:srgbClr val="000000">
                <a:alpha val="13000"/>
              </a:srgbClr>
            </a:outerShdw>
          </a:effectLst>
        </p:spPr>
      </p:sp>
      <p:sp>
        <p:nvSpPr>
          <p:cNvPr id="35" name="Shape 33"/>
          <p:cNvSpPr/>
          <p:nvPr/>
        </p:nvSpPr>
        <p:spPr>
          <a:xfrm>
            <a:off x="4864608" y="3566160"/>
            <a:ext cx="640080" cy="-256032"/>
          </a:xfrm>
          <a:prstGeom prst="line">
            <a:avLst/>
          </a:prstGeom>
          <a:noFill/>
          <a:ln w="50800">
            <a:solidFill>
              <a:srgbClr val="14B8A6"/>
            </a:solidFill>
            <a:prstDash val="solid"/>
          </a:ln>
        </p:spPr>
      </p:sp>
      <p:sp>
        <p:nvSpPr>
          <p:cNvPr id="36" name="Shape 34"/>
          <p:cNvSpPr/>
          <p:nvPr/>
        </p:nvSpPr>
        <p:spPr>
          <a:xfrm>
            <a:off x="5623560" y="3264408"/>
            <a:ext cx="411480" cy="411480"/>
          </a:xfrm>
          <a:prstGeom prst="ellipse">
            <a:avLst/>
          </a:prstGeom>
          <a:ln w="38100">
            <a:solidFill>
              <a:srgbClr val="14B8A6"/>
            </a:solidFill>
            <a:prstDash val="solid"/>
          </a:ln>
        </p:spPr>
      </p:sp>
      <p:sp>
        <p:nvSpPr>
          <p:cNvPr id="37" name="Text 35"/>
          <p:cNvSpPr/>
          <p:nvPr/>
        </p:nvSpPr>
        <p:spPr>
          <a:xfrm>
            <a:off x="4846320" y="3721608"/>
            <a:ext cx="1554480" cy="274320"/>
          </a:xfrm>
          <a:prstGeom prst="rect">
            <a:avLst/>
          </a:prstGeom>
          <a:noFill/>
          <a:ln/>
        </p:spPr>
        <p:txBody>
          <a:bodyPr wrap="square" lIns="0" tIns="0" rIns="0" bIns="0" rtlCol="0" anchor="ctr"/>
          <a:lstStyle/>
          <a:p>
            <a:pPr indent="0" marL="0">
              <a:buNone/>
            </a:pPr>
            <a:r>
              <a:rPr lang="en-US" sz="1200" b="1" dirty="0">
                <a:solidFill>
                  <a:srgbClr val="0C0C0E"/>
                </a:solidFill>
                <a:latin typeface="Calibri" pitchFamily="34" charset="0"/>
                <a:ea typeface="Calibri" pitchFamily="34" charset="-122"/>
                <a:cs typeface="Calibri" pitchFamily="34" charset="-120"/>
              </a:rPr>
              <a:t>Neon Art</a:t>
            </a:r>
            <a:endParaRPr lang="en-US" sz="1200" dirty="0"/>
          </a:p>
        </p:txBody>
      </p:sp>
      <p:sp>
        <p:nvSpPr>
          <p:cNvPr id="38" name="Text 36"/>
          <p:cNvSpPr/>
          <p:nvPr/>
        </p:nvSpPr>
        <p:spPr>
          <a:xfrm>
            <a:off x="4846320" y="3977640"/>
            <a:ext cx="1600200" cy="274320"/>
          </a:xfrm>
          <a:prstGeom prst="rect">
            <a:avLst/>
          </a:prstGeom>
          <a:noFill/>
          <a:ln/>
        </p:spPr>
        <p:txBody>
          <a:bodyPr wrap="square" lIns="0" tIns="0" rIns="0" bIns="0" rtlCol="0" anchor="ctr"/>
          <a:lstStyle/>
          <a:p>
            <a:pPr indent="0" marL="0">
              <a:buNone/>
            </a:pPr>
            <a:r>
              <a:rPr lang="en-US" sz="1000" dirty="0">
                <a:solidFill>
                  <a:srgbClr val="86837B"/>
                </a:solidFill>
                <a:latin typeface="Calibri" pitchFamily="34" charset="0"/>
                <a:ea typeface="Calibri" pitchFamily="34" charset="-122"/>
                <a:cs typeface="Calibri" pitchFamily="34" charset="-120"/>
              </a:rPr>
              <a:t>Glow on dark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4F46E5"/>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One model powers everything</a:t>
            </a:r>
            <a:endParaRPr lang="en-US" sz="3200" dirty="0"/>
          </a:p>
        </p:txBody>
      </p:sp>
      <p:sp>
        <p:nvSpPr>
          <p:cNvPr id="4" name="Shape 2"/>
          <p:cNvSpPr/>
          <p:nvPr/>
        </p:nvSpPr>
        <p:spPr>
          <a:xfrm>
            <a:off x="3200400" y="1600200"/>
            <a:ext cx="2743200" cy="640080"/>
          </a:xfrm>
          <a:prstGeom prst="roundRect">
            <a:avLst>
              <a:gd name="adj" fmla="val 14286"/>
            </a:avLst>
          </a:prstGeom>
          <a:solidFill>
            <a:srgbClr val="4F46E5"/>
          </a:solidFill>
          <a:ln/>
        </p:spPr>
      </p:sp>
      <p:sp>
        <p:nvSpPr>
          <p:cNvPr id="5" name="Text 3"/>
          <p:cNvSpPr/>
          <p:nvPr/>
        </p:nvSpPr>
        <p:spPr>
          <a:xfrm>
            <a:off x="3200400" y="1600200"/>
            <a:ext cx="27432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CanvasElement</a:t>
            </a:r>
            <a:endParaRPr lang="en-US" sz="1600" dirty="0"/>
          </a:p>
        </p:txBody>
      </p:sp>
      <p:sp>
        <p:nvSpPr>
          <p:cNvPr id="6" name="Shape 4"/>
          <p:cNvSpPr/>
          <p:nvPr/>
        </p:nvSpPr>
        <p:spPr>
          <a:xfrm>
            <a:off x="4572000" y="2240280"/>
            <a:ext cx="0" cy="201168"/>
          </a:xfrm>
          <a:prstGeom prst="line">
            <a:avLst/>
          </a:prstGeom>
          <a:noFill/>
          <a:ln w="19050">
            <a:solidFill>
              <a:srgbClr val="E3E1DA"/>
            </a:solidFill>
            <a:prstDash val="solid"/>
          </a:ln>
        </p:spPr>
      </p:sp>
      <p:sp>
        <p:nvSpPr>
          <p:cNvPr id="7" name="Shape 5"/>
          <p:cNvSpPr/>
          <p:nvPr/>
        </p:nvSpPr>
        <p:spPr>
          <a:xfrm>
            <a:off x="1828800" y="2441448"/>
            <a:ext cx="5486400" cy="0"/>
          </a:xfrm>
          <a:prstGeom prst="line">
            <a:avLst/>
          </a:prstGeom>
          <a:noFill/>
          <a:ln w="19050">
            <a:solidFill>
              <a:srgbClr val="E3E1DA"/>
            </a:solidFill>
            <a:prstDash val="solid"/>
          </a:ln>
        </p:spPr>
      </p:sp>
      <p:sp>
        <p:nvSpPr>
          <p:cNvPr id="8" name="Shape 6"/>
          <p:cNvSpPr/>
          <p:nvPr/>
        </p:nvSpPr>
        <p:spPr>
          <a:xfrm>
            <a:off x="1828800" y="2441448"/>
            <a:ext cx="0" cy="256032"/>
          </a:xfrm>
          <a:prstGeom prst="line">
            <a:avLst/>
          </a:prstGeom>
          <a:noFill/>
          <a:ln w="19050">
            <a:solidFill>
              <a:srgbClr val="E3E1DA"/>
            </a:solidFill>
            <a:prstDash val="solid"/>
          </a:ln>
        </p:spPr>
      </p:sp>
      <p:sp>
        <p:nvSpPr>
          <p:cNvPr id="9" name="Shape 7"/>
          <p:cNvSpPr/>
          <p:nvPr/>
        </p:nvSpPr>
        <p:spPr>
          <a:xfrm>
            <a:off x="914400" y="2697480"/>
            <a:ext cx="1828800" cy="548640"/>
          </a:xfrm>
          <a:prstGeom prst="roundRect">
            <a:avLst>
              <a:gd name="adj" fmla="val 13333"/>
            </a:avLst>
          </a:prstGeom>
          <a:solidFill>
            <a:srgbClr val="F4F2EC"/>
          </a:solidFill>
          <a:ln/>
        </p:spPr>
      </p:sp>
      <p:sp>
        <p:nvSpPr>
          <p:cNvPr id="10" name="Text 8"/>
          <p:cNvSpPr/>
          <p:nvPr/>
        </p:nvSpPr>
        <p:spPr>
          <a:xfrm>
            <a:off x="914400" y="2697480"/>
            <a:ext cx="1828800" cy="548640"/>
          </a:xfrm>
          <a:prstGeom prst="rect">
            <a:avLst/>
          </a:prstGeom>
          <a:noFill/>
          <a:ln/>
        </p:spPr>
        <p:txBody>
          <a:bodyPr wrap="square" lIns="0" tIns="0" rIns="0" bIns="0" rtlCol="0" anchor="ctr"/>
          <a:lstStyle/>
          <a:p>
            <a:pPr algn="ctr" indent="0" marL="0">
              <a:buNone/>
            </a:pPr>
            <a:r>
              <a:rPr lang="en-US" sz="1200" b="1" dirty="0">
                <a:solidFill>
                  <a:srgbClr val="0C0C0E"/>
                </a:solidFill>
                <a:latin typeface="Calibri" pitchFamily="34" charset="0"/>
                <a:ea typeface="Calibri" pitchFamily="34" charset="-122"/>
                <a:cs typeface="Calibri" pitchFamily="34" charset="-120"/>
              </a:rPr>
              <a:t>StrokeElement</a:t>
            </a:r>
            <a:endParaRPr lang="en-US" sz="1200" dirty="0"/>
          </a:p>
        </p:txBody>
      </p:sp>
      <p:sp>
        <p:nvSpPr>
          <p:cNvPr id="11" name="Shape 9"/>
          <p:cNvSpPr/>
          <p:nvPr/>
        </p:nvSpPr>
        <p:spPr>
          <a:xfrm>
            <a:off x="4572000" y="2441448"/>
            <a:ext cx="0" cy="256032"/>
          </a:xfrm>
          <a:prstGeom prst="line">
            <a:avLst/>
          </a:prstGeom>
          <a:noFill/>
          <a:ln w="19050">
            <a:solidFill>
              <a:srgbClr val="E3E1DA"/>
            </a:solidFill>
            <a:prstDash val="solid"/>
          </a:ln>
        </p:spPr>
      </p:sp>
      <p:sp>
        <p:nvSpPr>
          <p:cNvPr id="12" name="Shape 10"/>
          <p:cNvSpPr/>
          <p:nvPr/>
        </p:nvSpPr>
        <p:spPr>
          <a:xfrm>
            <a:off x="3657600" y="2697480"/>
            <a:ext cx="1828800" cy="548640"/>
          </a:xfrm>
          <a:prstGeom prst="roundRect">
            <a:avLst>
              <a:gd name="adj" fmla="val 13333"/>
            </a:avLst>
          </a:prstGeom>
          <a:solidFill>
            <a:srgbClr val="F4F2EC"/>
          </a:solidFill>
          <a:ln/>
        </p:spPr>
      </p:sp>
      <p:sp>
        <p:nvSpPr>
          <p:cNvPr id="13" name="Text 11"/>
          <p:cNvSpPr/>
          <p:nvPr/>
        </p:nvSpPr>
        <p:spPr>
          <a:xfrm>
            <a:off x="3657600" y="2697480"/>
            <a:ext cx="1828800" cy="548640"/>
          </a:xfrm>
          <a:prstGeom prst="rect">
            <a:avLst/>
          </a:prstGeom>
          <a:noFill/>
          <a:ln/>
        </p:spPr>
        <p:txBody>
          <a:bodyPr wrap="square" lIns="0" tIns="0" rIns="0" bIns="0" rtlCol="0" anchor="ctr"/>
          <a:lstStyle/>
          <a:p>
            <a:pPr algn="ctr" indent="0" marL="0">
              <a:buNone/>
            </a:pPr>
            <a:r>
              <a:rPr lang="en-US" sz="1200" b="1" dirty="0">
                <a:solidFill>
                  <a:srgbClr val="0C0C0E"/>
                </a:solidFill>
                <a:latin typeface="Calibri" pitchFamily="34" charset="0"/>
                <a:ea typeface="Calibri" pitchFamily="34" charset="-122"/>
                <a:cs typeface="Calibri" pitchFamily="34" charset="-120"/>
              </a:rPr>
              <a:t>ShapeElement</a:t>
            </a:r>
            <a:endParaRPr lang="en-US" sz="1200" dirty="0"/>
          </a:p>
        </p:txBody>
      </p:sp>
      <p:sp>
        <p:nvSpPr>
          <p:cNvPr id="14" name="Shape 12"/>
          <p:cNvSpPr/>
          <p:nvPr/>
        </p:nvSpPr>
        <p:spPr>
          <a:xfrm>
            <a:off x="7315200" y="2441448"/>
            <a:ext cx="0" cy="256032"/>
          </a:xfrm>
          <a:prstGeom prst="line">
            <a:avLst/>
          </a:prstGeom>
          <a:noFill/>
          <a:ln w="19050">
            <a:solidFill>
              <a:srgbClr val="E3E1DA"/>
            </a:solidFill>
            <a:prstDash val="solid"/>
          </a:ln>
        </p:spPr>
      </p:sp>
      <p:sp>
        <p:nvSpPr>
          <p:cNvPr id="15" name="Shape 13"/>
          <p:cNvSpPr/>
          <p:nvPr/>
        </p:nvSpPr>
        <p:spPr>
          <a:xfrm>
            <a:off x="6400800" y="2697480"/>
            <a:ext cx="1828800" cy="548640"/>
          </a:xfrm>
          <a:prstGeom prst="roundRect">
            <a:avLst>
              <a:gd name="adj" fmla="val 13333"/>
            </a:avLst>
          </a:prstGeom>
          <a:solidFill>
            <a:srgbClr val="F4F2EC"/>
          </a:solidFill>
          <a:ln/>
        </p:spPr>
      </p:sp>
      <p:sp>
        <p:nvSpPr>
          <p:cNvPr id="16" name="Text 14"/>
          <p:cNvSpPr/>
          <p:nvPr/>
        </p:nvSpPr>
        <p:spPr>
          <a:xfrm>
            <a:off x="6400800" y="2697480"/>
            <a:ext cx="1828800" cy="548640"/>
          </a:xfrm>
          <a:prstGeom prst="rect">
            <a:avLst/>
          </a:prstGeom>
          <a:noFill/>
          <a:ln/>
        </p:spPr>
        <p:txBody>
          <a:bodyPr wrap="square" lIns="0" tIns="0" rIns="0" bIns="0" rtlCol="0" anchor="ctr"/>
          <a:lstStyle/>
          <a:p>
            <a:pPr algn="ctr" indent="0" marL="0">
              <a:buNone/>
            </a:pPr>
            <a:r>
              <a:rPr lang="en-US" sz="1200" b="1" dirty="0">
                <a:solidFill>
                  <a:srgbClr val="0C0C0E"/>
                </a:solidFill>
                <a:latin typeface="Calibri" pitchFamily="34" charset="0"/>
                <a:ea typeface="Calibri" pitchFamily="34" charset="-122"/>
                <a:cs typeface="Calibri" pitchFamily="34" charset="-120"/>
              </a:rPr>
              <a:t>FillElement</a:t>
            </a:r>
            <a:endParaRPr lang="en-US" sz="1200" dirty="0"/>
          </a:p>
        </p:txBody>
      </p:sp>
      <p:sp>
        <p:nvSpPr>
          <p:cNvPr id="17" name="Text 15"/>
          <p:cNvSpPr/>
          <p:nvPr/>
        </p:nvSpPr>
        <p:spPr>
          <a:xfrm>
            <a:off x="548640" y="3520440"/>
            <a:ext cx="8046720" cy="365760"/>
          </a:xfrm>
          <a:prstGeom prst="rect">
            <a:avLst/>
          </a:prstGeom>
          <a:noFill/>
          <a:ln/>
        </p:spPr>
        <p:txBody>
          <a:bodyPr wrap="square" lIns="0" tIns="0" rIns="0" bIns="0" rtlCol="0" anchor="ctr"/>
          <a:lstStyle/>
          <a:p>
            <a:pPr algn="ctr" indent="0" marL="0">
              <a:buNone/>
            </a:pPr>
            <a:r>
              <a:rPr lang="en-US" sz="1400" b="1" dirty="0">
                <a:solidFill>
                  <a:srgbClr val="0C0C0E"/>
                </a:solidFill>
                <a:latin typeface="Calibri" pitchFamily="34" charset="0"/>
                <a:ea typeface="Calibri" pitchFamily="34" charset="-122"/>
                <a:cs typeface="Calibri" pitchFamily="34" charset="-120"/>
              </a:rPr>
              <a:t>One ordered list →  undo / redo  ·  export  ·  rotation restore</a:t>
            </a:r>
            <a:endParaRPr lang="en-US" sz="1400" dirty="0"/>
          </a:p>
        </p:txBody>
      </p:sp>
      <p:sp>
        <p:nvSpPr>
          <p:cNvPr id="18" name="Shape 16"/>
          <p:cNvSpPr/>
          <p:nvPr/>
        </p:nvSpPr>
        <p:spPr>
          <a:xfrm>
            <a:off x="1280160" y="4069080"/>
            <a:ext cx="3017520" cy="640080"/>
          </a:xfrm>
          <a:prstGeom prst="roundRect">
            <a:avLst>
              <a:gd name="adj" fmla="val 14286"/>
            </a:avLst>
          </a:prstGeom>
          <a:solidFill>
            <a:srgbClr val="0C0C0E"/>
          </a:solidFill>
          <a:ln/>
        </p:spPr>
      </p:sp>
      <p:sp>
        <p:nvSpPr>
          <p:cNvPr id="19" name="Text 17"/>
          <p:cNvSpPr/>
          <p:nvPr/>
        </p:nvSpPr>
        <p:spPr>
          <a:xfrm>
            <a:off x="1280160" y="4069080"/>
            <a:ext cx="3017520" cy="6400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:ezcanvas  —  engine + toolbar</a:t>
            </a:r>
            <a:endParaRPr lang="en-US" sz="1200" dirty="0"/>
          </a:p>
        </p:txBody>
      </p:sp>
      <p:sp>
        <p:nvSpPr>
          <p:cNvPr id="20" name="Shape 18"/>
          <p:cNvSpPr/>
          <p:nvPr/>
        </p:nvSpPr>
        <p:spPr>
          <a:xfrm>
            <a:off x="4846320" y="4069080"/>
            <a:ext cx="3017520" cy="640080"/>
          </a:xfrm>
          <a:prstGeom prst="roundRect">
            <a:avLst>
              <a:gd name="adj" fmla="val 14286"/>
            </a:avLst>
          </a:prstGeom>
          <a:solidFill>
            <a:srgbClr val="F4F2EC"/>
          </a:solidFill>
          <a:ln w="12700">
            <a:solidFill>
              <a:srgbClr val="E3E1DA"/>
            </a:solidFill>
            <a:prstDash val="solid"/>
          </a:ln>
        </p:spPr>
      </p:sp>
      <p:sp>
        <p:nvSpPr>
          <p:cNvPr id="21" name="Text 19"/>
          <p:cNvSpPr/>
          <p:nvPr/>
        </p:nvSpPr>
        <p:spPr>
          <a:xfrm>
            <a:off x="4846320" y="4069080"/>
            <a:ext cx="3017520" cy="640080"/>
          </a:xfrm>
          <a:prstGeom prst="rect">
            <a:avLst/>
          </a:prstGeom>
          <a:noFill/>
          <a:ln/>
        </p:spPr>
        <p:txBody>
          <a:bodyPr wrap="square" lIns="0" tIns="0" rIns="0" bIns="0" rtlCol="0" anchor="ctr"/>
          <a:lstStyle/>
          <a:p>
            <a:pPr algn="ctr" indent="0" marL="0">
              <a:buNone/>
            </a:pPr>
            <a:r>
              <a:rPr lang="en-US" sz="1200" dirty="0">
                <a:solidFill>
                  <a:srgbClr val="0C0C0E"/>
                </a:solidFill>
                <a:latin typeface="Calibri" pitchFamily="34" charset="0"/>
                <a:ea typeface="Calibri" pitchFamily="34" charset="-122"/>
                <a:cs typeface="Calibri" pitchFamily="34" charset="-120"/>
              </a:rPr>
              <a:t>:app  —  consumes public API only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4F46E5"/>
                </a:solidFill>
                <a:latin typeface="Calibri" pitchFamily="34" charset="0"/>
                <a:ea typeface="Calibri" pitchFamily="34" charset="-122"/>
                <a:cs typeface="Calibri" pitchFamily="34" charset="-120"/>
              </a:rPr>
              <a:t>WHY IT'S AN ADVANCED PROJECT</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Real Android depth</a:t>
            </a:r>
            <a:endParaRPr lang="en-US" sz="3200" dirty="0"/>
          </a:p>
        </p:txBody>
      </p:sp>
      <p:sp>
        <p:nvSpPr>
          <p:cNvPr id="4" name="Shape 2"/>
          <p:cNvSpPr/>
          <p:nvPr/>
        </p:nvSpPr>
        <p:spPr>
          <a:xfrm>
            <a:off x="548640" y="1746504"/>
            <a:ext cx="146304" cy="146304"/>
          </a:xfrm>
          <a:prstGeom prst="ellipse">
            <a:avLst/>
          </a:prstGeom>
          <a:solidFill>
            <a:srgbClr val="4F46E5"/>
          </a:solidFill>
          <a:ln/>
        </p:spPr>
      </p:sp>
      <p:sp>
        <p:nvSpPr>
          <p:cNvPr id="5" name="Text 3"/>
          <p:cNvSpPr/>
          <p:nvPr/>
        </p:nvSpPr>
        <p:spPr>
          <a:xfrm>
            <a:off x="841248" y="1691640"/>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Compose Canvas rendering with a layered eraser</a:t>
            </a:r>
            <a:endParaRPr lang="en-US" sz="1350" dirty="0"/>
          </a:p>
        </p:txBody>
      </p:sp>
      <p:sp>
        <p:nvSpPr>
          <p:cNvPr id="6" name="Shape 4"/>
          <p:cNvSpPr/>
          <p:nvPr/>
        </p:nvSpPr>
        <p:spPr>
          <a:xfrm>
            <a:off x="4709160" y="1746504"/>
            <a:ext cx="146304" cy="146304"/>
          </a:xfrm>
          <a:prstGeom prst="ellipse">
            <a:avLst/>
          </a:prstGeom>
          <a:solidFill>
            <a:srgbClr val="FB6F61"/>
          </a:solidFill>
          <a:ln/>
        </p:spPr>
      </p:sp>
      <p:sp>
        <p:nvSpPr>
          <p:cNvPr id="7" name="Text 5"/>
          <p:cNvSpPr/>
          <p:nvPr/>
        </p:nvSpPr>
        <p:spPr>
          <a:xfrm>
            <a:off x="5001768" y="1691640"/>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pointerInput gesture handling + live preview</a:t>
            </a:r>
            <a:endParaRPr lang="en-US" sz="1350" dirty="0"/>
          </a:p>
        </p:txBody>
      </p:sp>
      <p:sp>
        <p:nvSpPr>
          <p:cNvPr id="8" name="Shape 6"/>
          <p:cNvSpPr/>
          <p:nvPr/>
        </p:nvSpPr>
        <p:spPr>
          <a:xfrm>
            <a:off x="548640" y="2404872"/>
            <a:ext cx="146304" cy="146304"/>
          </a:xfrm>
          <a:prstGeom prst="ellipse">
            <a:avLst/>
          </a:prstGeom>
          <a:solidFill>
            <a:srgbClr val="14B8A6"/>
          </a:solidFill>
          <a:ln/>
        </p:spPr>
      </p:sp>
      <p:sp>
        <p:nvSpPr>
          <p:cNvPr id="9" name="Text 7"/>
          <p:cNvSpPr/>
          <p:nvPr/>
        </p:nvSpPr>
        <p:spPr>
          <a:xfrm>
            <a:off x="841248" y="2350008"/>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Iterative scanline flood-fill (recursion overflows)</a:t>
            </a:r>
            <a:endParaRPr lang="en-US" sz="1350" dirty="0"/>
          </a:p>
        </p:txBody>
      </p:sp>
      <p:sp>
        <p:nvSpPr>
          <p:cNvPr id="10" name="Shape 8"/>
          <p:cNvSpPr/>
          <p:nvPr/>
        </p:nvSpPr>
        <p:spPr>
          <a:xfrm>
            <a:off x="4709160" y="2404872"/>
            <a:ext cx="146304" cy="146304"/>
          </a:xfrm>
          <a:prstGeom prst="ellipse">
            <a:avLst/>
          </a:prstGeom>
          <a:solidFill>
            <a:srgbClr val="F59E0B"/>
          </a:solidFill>
          <a:ln/>
        </p:spPr>
      </p:sp>
      <p:sp>
        <p:nvSpPr>
          <p:cNvPr id="11" name="Text 9"/>
          <p:cNvSpPr/>
          <p:nvPr/>
        </p:nvSpPr>
        <p:spPr>
          <a:xfrm>
            <a:off x="5001768" y="2350008"/>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Sealed, serializable element model</a:t>
            </a:r>
            <a:endParaRPr lang="en-US" sz="1350" dirty="0"/>
          </a:p>
        </p:txBody>
      </p:sp>
      <p:sp>
        <p:nvSpPr>
          <p:cNvPr id="12" name="Shape 10"/>
          <p:cNvSpPr/>
          <p:nvPr/>
        </p:nvSpPr>
        <p:spPr>
          <a:xfrm>
            <a:off x="548640" y="3063240"/>
            <a:ext cx="146304" cy="146304"/>
          </a:xfrm>
          <a:prstGeom prst="ellipse">
            <a:avLst/>
          </a:prstGeom>
          <a:solidFill>
            <a:srgbClr val="4F46E5"/>
          </a:solidFill>
          <a:ln/>
        </p:spPr>
      </p:sp>
      <p:sp>
        <p:nvSpPr>
          <p:cNvPr id="13" name="Text 11"/>
          <p:cNvSpPr/>
          <p:nvPr/>
        </p:nvSpPr>
        <p:spPr>
          <a:xfrm>
            <a:off x="841248" y="3008376"/>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rememberSaveable state restoration</a:t>
            </a:r>
            <a:endParaRPr lang="en-US" sz="1350" dirty="0"/>
          </a:p>
        </p:txBody>
      </p:sp>
      <p:sp>
        <p:nvSpPr>
          <p:cNvPr id="14" name="Shape 12"/>
          <p:cNvSpPr/>
          <p:nvPr/>
        </p:nvSpPr>
        <p:spPr>
          <a:xfrm>
            <a:off x="4709160" y="3063240"/>
            <a:ext cx="146304" cy="146304"/>
          </a:xfrm>
          <a:prstGeom prst="ellipse">
            <a:avLst/>
          </a:prstGeom>
          <a:solidFill>
            <a:srgbClr val="FB6F61"/>
          </a:solidFill>
          <a:ln/>
        </p:spPr>
      </p:sp>
      <p:sp>
        <p:nvSpPr>
          <p:cNvPr id="15" name="Text 13"/>
          <p:cNvSpPr/>
          <p:nvPr/>
        </p:nvSpPr>
        <p:spPr>
          <a:xfrm>
            <a:off x="5001768" y="3008376"/>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Off-screen Bitmap export + bundled FileProvider</a:t>
            </a:r>
            <a:endParaRPr lang="en-US" sz="1350" dirty="0"/>
          </a:p>
        </p:txBody>
      </p:sp>
      <p:sp>
        <p:nvSpPr>
          <p:cNvPr id="16" name="Shape 14"/>
          <p:cNvSpPr/>
          <p:nvPr/>
        </p:nvSpPr>
        <p:spPr>
          <a:xfrm>
            <a:off x="548640" y="3721608"/>
            <a:ext cx="146304" cy="146304"/>
          </a:xfrm>
          <a:prstGeom prst="ellipse">
            <a:avLst/>
          </a:prstGeom>
          <a:solidFill>
            <a:srgbClr val="14B8A6"/>
          </a:solidFill>
          <a:ln/>
        </p:spPr>
      </p:sp>
      <p:sp>
        <p:nvSpPr>
          <p:cNvPr id="17" name="Text 15"/>
          <p:cNvSpPr/>
          <p:nvPr/>
        </p:nvSpPr>
        <p:spPr>
          <a:xfrm>
            <a:off x="841248" y="3666744"/>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MaterialTheme-driven, reusable UI</a:t>
            </a:r>
            <a:endParaRPr lang="en-US" sz="1350" dirty="0"/>
          </a:p>
        </p:txBody>
      </p:sp>
      <p:sp>
        <p:nvSpPr>
          <p:cNvPr id="18" name="Shape 16"/>
          <p:cNvSpPr/>
          <p:nvPr/>
        </p:nvSpPr>
        <p:spPr>
          <a:xfrm>
            <a:off x="4709160" y="3721608"/>
            <a:ext cx="146304" cy="146304"/>
          </a:xfrm>
          <a:prstGeom prst="ellipse">
            <a:avLst/>
          </a:prstGeom>
          <a:solidFill>
            <a:srgbClr val="F59E0B"/>
          </a:solidFill>
          <a:ln/>
        </p:spPr>
      </p:sp>
      <p:sp>
        <p:nvSpPr>
          <p:cNvPr id="19" name="Text 17"/>
          <p:cNvSpPr/>
          <p:nvPr/>
        </p:nvSpPr>
        <p:spPr>
          <a:xfrm>
            <a:off x="5001768" y="3666744"/>
            <a:ext cx="3749040" cy="457200"/>
          </a:xfrm>
          <a:prstGeom prst="rect">
            <a:avLst/>
          </a:prstGeom>
          <a:noFill/>
          <a:ln/>
        </p:spPr>
        <p:txBody>
          <a:bodyPr wrap="square" lIns="0" tIns="0" rIns="0" bIns="0" rtlCol="0" anchor="t"/>
          <a:lstStyle/>
          <a:p>
            <a:pPr indent="0" marL="0">
              <a:buNone/>
            </a:pPr>
            <a:r>
              <a:rPr lang="en-US" sz="1350" dirty="0">
                <a:solidFill>
                  <a:srgbClr val="0C0C0E"/>
                </a:solidFill>
                <a:latin typeface="Calibri" pitchFamily="34" charset="0"/>
                <a:ea typeface="Calibri" pitchFamily="34" charset="-122"/>
                <a:cs typeface="Calibri" pitchFamily="34" charset="-120"/>
              </a:rPr>
              <a:t>Multi-module library, published to JitPack</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E"/>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8E86F5"/>
                </a:solidFill>
                <a:latin typeface="Calibri" pitchFamily="34" charset="0"/>
                <a:ea typeface="Calibri" pitchFamily="34" charset="-122"/>
                <a:cs typeface="Calibri" pitchFamily="34" charset="-120"/>
              </a:rPr>
              <a:t>WHERE IT STANDS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Built, published, demoable</a:t>
            </a:r>
            <a:endParaRPr lang="en-US" sz="3200" dirty="0"/>
          </a:p>
        </p:txBody>
      </p:sp>
      <p:sp>
        <p:nvSpPr>
          <p:cNvPr id="4" name="Shape 2"/>
          <p:cNvSpPr/>
          <p:nvPr/>
        </p:nvSpPr>
        <p:spPr>
          <a:xfrm>
            <a:off x="548640" y="1828800"/>
            <a:ext cx="1874520" cy="2194560"/>
          </a:xfrm>
          <a:prstGeom prst="roundRect">
            <a:avLst>
              <a:gd name="adj" fmla="val 5854"/>
            </a:avLst>
          </a:prstGeom>
          <a:solidFill>
            <a:srgbClr val="17171D"/>
          </a:solidFill>
          <a:ln/>
        </p:spPr>
      </p:sp>
      <p:sp>
        <p:nvSpPr>
          <p:cNvPr id="5" name="Text 3"/>
          <p:cNvSpPr/>
          <p:nvPr/>
        </p:nvSpPr>
        <p:spPr>
          <a:xfrm>
            <a:off x="548640" y="2148840"/>
            <a:ext cx="1874520" cy="914400"/>
          </a:xfrm>
          <a:prstGeom prst="rect">
            <a:avLst/>
          </a:prstGeom>
          <a:noFill/>
          <a:ln/>
        </p:spPr>
        <p:txBody>
          <a:bodyPr wrap="square" lIns="0" tIns="0" rIns="0" bIns="0" rtlCol="0" anchor="ctr"/>
          <a:lstStyle/>
          <a:p>
            <a:pPr algn="ctr" indent="0" marL="0">
              <a:buNone/>
            </a:pPr>
            <a:r>
              <a:rPr lang="en-US" sz="4400" b="1" dirty="0">
                <a:solidFill>
                  <a:srgbClr val="14B8A6"/>
                </a:solidFill>
                <a:latin typeface="Calibri" pitchFamily="34" charset="0"/>
                <a:ea typeface="Calibri" pitchFamily="34" charset="-122"/>
                <a:cs typeface="Calibri" pitchFamily="34" charset="-120"/>
              </a:rPr>
              <a:t>1.0.1</a:t>
            </a:r>
            <a:endParaRPr lang="en-US" sz="4400" dirty="0"/>
          </a:p>
        </p:txBody>
      </p:sp>
      <p:sp>
        <p:nvSpPr>
          <p:cNvPr id="6" name="Text 4"/>
          <p:cNvSpPr/>
          <p:nvPr/>
        </p:nvSpPr>
        <p:spPr>
          <a:xfrm>
            <a:off x="685800" y="3200400"/>
            <a:ext cx="1600200" cy="640080"/>
          </a:xfrm>
          <a:prstGeom prst="rect">
            <a:avLst/>
          </a:prstGeom>
          <a:noFill/>
          <a:ln/>
        </p:spPr>
        <p:txBody>
          <a:bodyPr wrap="square" lIns="0" tIns="0" rIns="0" bIns="0" rtlCol="0" anchor="ctr"/>
          <a:lstStyle/>
          <a:p>
            <a:pPr algn="ctr" indent="0" marL="0">
              <a:buNone/>
            </a:pPr>
            <a:r>
              <a:rPr lang="en-US" sz="1200" dirty="0">
                <a:solidFill>
                  <a:srgbClr val="C9C7D6"/>
                </a:solidFill>
                <a:latin typeface="Calibri" pitchFamily="34" charset="0"/>
                <a:ea typeface="Calibri" pitchFamily="34" charset="-122"/>
                <a:cs typeface="Calibri" pitchFamily="34" charset="-120"/>
              </a:rPr>
              <a:t>live on JitPack</a:t>
            </a:r>
            <a:endParaRPr lang="en-US" sz="1200" dirty="0"/>
          </a:p>
        </p:txBody>
      </p:sp>
      <p:sp>
        <p:nvSpPr>
          <p:cNvPr id="7" name="Shape 5"/>
          <p:cNvSpPr/>
          <p:nvPr/>
        </p:nvSpPr>
        <p:spPr>
          <a:xfrm>
            <a:off x="2606040" y="1828800"/>
            <a:ext cx="1874520" cy="2194560"/>
          </a:xfrm>
          <a:prstGeom prst="roundRect">
            <a:avLst>
              <a:gd name="adj" fmla="val 5854"/>
            </a:avLst>
          </a:prstGeom>
          <a:solidFill>
            <a:srgbClr val="17171D"/>
          </a:solidFill>
          <a:ln/>
        </p:spPr>
      </p:sp>
      <p:sp>
        <p:nvSpPr>
          <p:cNvPr id="8" name="Text 6"/>
          <p:cNvSpPr/>
          <p:nvPr/>
        </p:nvSpPr>
        <p:spPr>
          <a:xfrm>
            <a:off x="2606040" y="2148840"/>
            <a:ext cx="1874520" cy="914400"/>
          </a:xfrm>
          <a:prstGeom prst="rect">
            <a:avLst/>
          </a:prstGeom>
          <a:noFill/>
          <a:ln/>
        </p:spPr>
        <p:txBody>
          <a:bodyPr wrap="square" lIns="0" tIns="0" rIns="0" bIns="0" rtlCol="0" anchor="ctr"/>
          <a:lstStyle/>
          <a:p>
            <a:pPr algn="ctr" indent="0" marL="0">
              <a:buNone/>
            </a:pPr>
            <a:r>
              <a:rPr lang="en-US" sz="4400" b="1" dirty="0">
                <a:solidFill>
                  <a:srgbClr val="4F46E5"/>
                </a:solidFill>
                <a:latin typeface="Calibri" pitchFamily="34" charset="0"/>
                <a:ea typeface="Calibri" pitchFamily="34" charset="-122"/>
                <a:cs typeface="Calibri" pitchFamily="34" charset="-120"/>
              </a:rPr>
              <a:t>10</a:t>
            </a:r>
            <a:endParaRPr lang="en-US" sz="4400" dirty="0"/>
          </a:p>
        </p:txBody>
      </p:sp>
      <p:sp>
        <p:nvSpPr>
          <p:cNvPr id="9" name="Text 7"/>
          <p:cNvSpPr/>
          <p:nvPr/>
        </p:nvSpPr>
        <p:spPr>
          <a:xfrm>
            <a:off x="2743200" y="3200400"/>
            <a:ext cx="1600200" cy="640080"/>
          </a:xfrm>
          <a:prstGeom prst="rect">
            <a:avLst/>
          </a:prstGeom>
          <a:noFill/>
          <a:ln/>
        </p:spPr>
        <p:txBody>
          <a:bodyPr wrap="square" lIns="0" tIns="0" rIns="0" bIns="0" rtlCol="0" anchor="ctr"/>
          <a:lstStyle/>
          <a:p>
            <a:pPr algn="ctr" indent="0" marL="0">
              <a:buNone/>
            </a:pPr>
            <a:r>
              <a:rPr lang="en-US" sz="1200" dirty="0">
                <a:solidFill>
                  <a:srgbClr val="C9C7D6"/>
                </a:solidFill>
                <a:latin typeface="Calibri" pitchFamily="34" charset="0"/>
                <a:ea typeface="Calibri" pitchFamily="34" charset="-122"/>
                <a:cs typeface="Calibri" pitchFamily="34" charset="-120"/>
              </a:rPr>
              <a:t>tools, 14 controls</a:t>
            </a:r>
            <a:endParaRPr lang="en-US" sz="1200" dirty="0"/>
          </a:p>
        </p:txBody>
      </p:sp>
      <p:sp>
        <p:nvSpPr>
          <p:cNvPr id="10" name="Shape 8"/>
          <p:cNvSpPr/>
          <p:nvPr/>
        </p:nvSpPr>
        <p:spPr>
          <a:xfrm>
            <a:off x="4663440" y="1828800"/>
            <a:ext cx="1874520" cy="2194560"/>
          </a:xfrm>
          <a:prstGeom prst="roundRect">
            <a:avLst>
              <a:gd name="adj" fmla="val 5854"/>
            </a:avLst>
          </a:prstGeom>
          <a:solidFill>
            <a:srgbClr val="17171D"/>
          </a:solidFill>
          <a:ln/>
        </p:spPr>
      </p:sp>
      <p:sp>
        <p:nvSpPr>
          <p:cNvPr id="11" name="Text 9"/>
          <p:cNvSpPr/>
          <p:nvPr/>
        </p:nvSpPr>
        <p:spPr>
          <a:xfrm>
            <a:off x="4663440" y="2148840"/>
            <a:ext cx="1874520" cy="914400"/>
          </a:xfrm>
          <a:prstGeom prst="rect">
            <a:avLst/>
          </a:prstGeom>
          <a:noFill/>
          <a:ln/>
        </p:spPr>
        <p:txBody>
          <a:bodyPr wrap="square" lIns="0" tIns="0" rIns="0" bIns="0" rtlCol="0" anchor="ctr"/>
          <a:lstStyle/>
          <a:p>
            <a:pPr algn="ctr" indent="0" marL="0">
              <a:buNone/>
            </a:pPr>
            <a:r>
              <a:rPr lang="en-US" sz="4400" b="1" dirty="0">
                <a:solidFill>
                  <a:srgbClr val="FB6F61"/>
                </a:solidFill>
                <a:latin typeface="Calibri" pitchFamily="34" charset="0"/>
                <a:ea typeface="Calibri" pitchFamily="34" charset="-122"/>
                <a:cs typeface="Calibri" pitchFamily="34" charset="-120"/>
              </a:rPr>
              <a:t>0</a:t>
            </a:r>
            <a:endParaRPr lang="en-US" sz="4400" dirty="0"/>
          </a:p>
        </p:txBody>
      </p:sp>
      <p:sp>
        <p:nvSpPr>
          <p:cNvPr id="12" name="Text 10"/>
          <p:cNvSpPr/>
          <p:nvPr/>
        </p:nvSpPr>
        <p:spPr>
          <a:xfrm>
            <a:off x="4800600" y="3200400"/>
            <a:ext cx="1600200" cy="640080"/>
          </a:xfrm>
          <a:prstGeom prst="rect">
            <a:avLst/>
          </a:prstGeom>
          <a:noFill/>
          <a:ln/>
        </p:spPr>
        <p:txBody>
          <a:bodyPr wrap="square" lIns="0" tIns="0" rIns="0" bIns="0" rtlCol="0" anchor="ctr"/>
          <a:lstStyle/>
          <a:p>
            <a:pPr algn="ctr" indent="0" marL="0">
              <a:buNone/>
            </a:pPr>
            <a:r>
              <a:rPr lang="en-US" sz="1200" dirty="0">
                <a:solidFill>
                  <a:srgbClr val="C9C7D6"/>
                </a:solidFill>
                <a:latin typeface="Calibri" pitchFamily="34" charset="0"/>
                <a:ea typeface="Calibri" pitchFamily="34" charset="-122"/>
                <a:cs typeface="Calibri" pitchFamily="34" charset="-120"/>
              </a:rPr>
              <a:t>engine code in the app</a:t>
            </a:r>
            <a:endParaRPr lang="en-US" sz="1200" dirty="0"/>
          </a:p>
        </p:txBody>
      </p:sp>
      <p:sp>
        <p:nvSpPr>
          <p:cNvPr id="13" name="Shape 11"/>
          <p:cNvSpPr/>
          <p:nvPr/>
        </p:nvSpPr>
        <p:spPr>
          <a:xfrm>
            <a:off x="6720840" y="1828800"/>
            <a:ext cx="1874520" cy="2194560"/>
          </a:xfrm>
          <a:prstGeom prst="roundRect">
            <a:avLst>
              <a:gd name="adj" fmla="val 5854"/>
            </a:avLst>
          </a:prstGeom>
          <a:solidFill>
            <a:srgbClr val="17171D"/>
          </a:solidFill>
          <a:ln/>
        </p:spPr>
      </p:sp>
      <p:sp>
        <p:nvSpPr>
          <p:cNvPr id="14" name="Text 12"/>
          <p:cNvSpPr/>
          <p:nvPr/>
        </p:nvSpPr>
        <p:spPr>
          <a:xfrm>
            <a:off x="6720840" y="2148840"/>
            <a:ext cx="1874520" cy="914400"/>
          </a:xfrm>
          <a:prstGeom prst="rect">
            <a:avLst/>
          </a:prstGeom>
          <a:noFill/>
          <a:ln/>
        </p:spPr>
        <p:txBody>
          <a:bodyPr wrap="square" lIns="0" tIns="0" rIns="0" bIns="0" rtlCol="0" anchor="ctr"/>
          <a:lstStyle/>
          <a:p>
            <a:pPr algn="ctr" indent="0" marL="0">
              <a:buNone/>
            </a:pPr>
            <a:r>
              <a:rPr lang="en-US" sz="4400" b="1" dirty="0">
                <a:solidFill>
                  <a:srgbClr val="F59E0B"/>
                </a:solidFill>
                <a:latin typeface="Calibri" pitchFamily="34" charset="0"/>
                <a:ea typeface="Calibri" pitchFamily="34" charset="-122"/>
                <a:cs typeface="Calibri" pitchFamily="34" charset="-120"/>
              </a:rPr>
              <a:t>28+</a:t>
            </a:r>
            <a:endParaRPr lang="en-US" sz="4400" dirty="0"/>
          </a:p>
        </p:txBody>
      </p:sp>
      <p:sp>
        <p:nvSpPr>
          <p:cNvPr id="15" name="Text 13"/>
          <p:cNvSpPr/>
          <p:nvPr/>
        </p:nvSpPr>
        <p:spPr>
          <a:xfrm>
            <a:off x="6858000" y="3200400"/>
            <a:ext cx="1600200" cy="640080"/>
          </a:xfrm>
          <a:prstGeom prst="rect">
            <a:avLst/>
          </a:prstGeom>
          <a:noFill/>
          <a:ln/>
        </p:spPr>
        <p:txBody>
          <a:bodyPr wrap="square" lIns="0" tIns="0" rIns="0" bIns="0" rtlCol="0" anchor="ctr"/>
          <a:lstStyle/>
          <a:p>
            <a:pPr algn="ctr" indent="0" marL="0">
              <a:buNone/>
            </a:pPr>
            <a:r>
              <a:rPr lang="en-US" sz="1200" dirty="0">
                <a:solidFill>
                  <a:srgbClr val="C9C7D6"/>
                </a:solidFill>
                <a:latin typeface="Calibri" pitchFamily="34" charset="0"/>
                <a:ea typeface="Calibri" pitchFamily="34" charset="-122"/>
                <a:cs typeface="Calibri" pitchFamily="34" charset="-120"/>
              </a:rPr>
              <a:t>minSdk (Android 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4F46E5"/>
                </a:solidFill>
                <a:latin typeface="Calibri" pitchFamily="34" charset="0"/>
                <a:ea typeface="Calibri" pitchFamily="34" charset="-122"/>
                <a:cs typeface="Calibri" pitchFamily="34" charset="-120"/>
              </a:rPr>
              <a:t>BUILT WITH</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Modern, single-Activity Compose</a:t>
            </a:r>
            <a:endParaRPr lang="en-US" sz="3200" dirty="0"/>
          </a:p>
        </p:txBody>
      </p:sp>
      <p:sp>
        <p:nvSpPr>
          <p:cNvPr id="4" name="Shape 2"/>
          <p:cNvSpPr/>
          <p:nvPr/>
        </p:nvSpPr>
        <p:spPr>
          <a:xfrm>
            <a:off x="548640" y="1783080"/>
            <a:ext cx="1874520" cy="640080"/>
          </a:xfrm>
          <a:prstGeom prst="roundRect">
            <a:avLst>
              <a:gd name="adj" fmla="val 8571"/>
            </a:avLst>
          </a:prstGeom>
          <a:solidFill>
            <a:srgbClr val="F4F2EC"/>
          </a:solidFill>
          <a:ln w="12700">
            <a:solidFill>
              <a:srgbClr val="E3E1DA"/>
            </a:solidFill>
            <a:prstDash val="solid"/>
          </a:ln>
        </p:spPr>
      </p:sp>
      <p:sp>
        <p:nvSpPr>
          <p:cNvPr id="5" name="Text 3"/>
          <p:cNvSpPr/>
          <p:nvPr/>
        </p:nvSpPr>
        <p:spPr>
          <a:xfrm>
            <a:off x="548640" y="17830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Jetpack Compose</a:t>
            </a:r>
            <a:endParaRPr lang="en-US" sz="1300" dirty="0"/>
          </a:p>
        </p:txBody>
      </p:sp>
      <p:sp>
        <p:nvSpPr>
          <p:cNvPr id="6" name="Shape 4"/>
          <p:cNvSpPr/>
          <p:nvPr/>
        </p:nvSpPr>
        <p:spPr>
          <a:xfrm>
            <a:off x="2606040" y="1783080"/>
            <a:ext cx="1874520" cy="640080"/>
          </a:xfrm>
          <a:prstGeom prst="roundRect">
            <a:avLst>
              <a:gd name="adj" fmla="val 8571"/>
            </a:avLst>
          </a:prstGeom>
          <a:solidFill>
            <a:srgbClr val="F4F2EC"/>
          </a:solidFill>
          <a:ln w="12700">
            <a:solidFill>
              <a:srgbClr val="E3E1DA"/>
            </a:solidFill>
            <a:prstDash val="solid"/>
          </a:ln>
        </p:spPr>
      </p:sp>
      <p:sp>
        <p:nvSpPr>
          <p:cNvPr id="7" name="Text 5"/>
          <p:cNvSpPr/>
          <p:nvPr/>
        </p:nvSpPr>
        <p:spPr>
          <a:xfrm>
            <a:off x="2606040" y="17830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Kotlin 2.2</a:t>
            </a:r>
            <a:endParaRPr lang="en-US" sz="1300" dirty="0"/>
          </a:p>
        </p:txBody>
      </p:sp>
      <p:sp>
        <p:nvSpPr>
          <p:cNvPr id="8" name="Shape 6"/>
          <p:cNvSpPr/>
          <p:nvPr/>
        </p:nvSpPr>
        <p:spPr>
          <a:xfrm>
            <a:off x="4663440" y="1783080"/>
            <a:ext cx="1874520" cy="640080"/>
          </a:xfrm>
          <a:prstGeom prst="roundRect">
            <a:avLst>
              <a:gd name="adj" fmla="val 8571"/>
            </a:avLst>
          </a:prstGeom>
          <a:solidFill>
            <a:srgbClr val="F4F2EC"/>
          </a:solidFill>
          <a:ln w="12700">
            <a:solidFill>
              <a:srgbClr val="E3E1DA"/>
            </a:solidFill>
            <a:prstDash val="solid"/>
          </a:ln>
        </p:spPr>
      </p:sp>
      <p:sp>
        <p:nvSpPr>
          <p:cNvPr id="9" name="Text 7"/>
          <p:cNvSpPr/>
          <p:nvPr/>
        </p:nvSpPr>
        <p:spPr>
          <a:xfrm>
            <a:off x="4663440" y="17830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Material 3</a:t>
            </a:r>
            <a:endParaRPr lang="en-US" sz="1300" dirty="0"/>
          </a:p>
        </p:txBody>
      </p:sp>
      <p:sp>
        <p:nvSpPr>
          <p:cNvPr id="10" name="Shape 8"/>
          <p:cNvSpPr/>
          <p:nvPr/>
        </p:nvSpPr>
        <p:spPr>
          <a:xfrm>
            <a:off x="6720840" y="1783080"/>
            <a:ext cx="1874520" cy="640080"/>
          </a:xfrm>
          <a:prstGeom prst="roundRect">
            <a:avLst>
              <a:gd name="adj" fmla="val 8571"/>
            </a:avLst>
          </a:prstGeom>
          <a:solidFill>
            <a:srgbClr val="F4F2EC"/>
          </a:solidFill>
          <a:ln w="12700">
            <a:solidFill>
              <a:srgbClr val="E3E1DA"/>
            </a:solidFill>
            <a:prstDash val="solid"/>
          </a:ln>
        </p:spPr>
      </p:sp>
      <p:sp>
        <p:nvSpPr>
          <p:cNvPr id="11" name="Text 9"/>
          <p:cNvSpPr/>
          <p:nvPr/>
        </p:nvSpPr>
        <p:spPr>
          <a:xfrm>
            <a:off x="6720840" y="17830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AGP 9.1</a:t>
            </a:r>
            <a:endParaRPr lang="en-US" sz="1300" dirty="0"/>
          </a:p>
        </p:txBody>
      </p:sp>
      <p:sp>
        <p:nvSpPr>
          <p:cNvPr id="12" name="Shape 10"/>
          <p:cNvSpPr/>
          <p:nvPr/>
        </p:nvSpPr>
        <p:spPr>
          <a:xfrm>
            <a:off x="548640" y="2697480"/>
            <a:ext cx="1874520" cy="640080"/>
          </a:xfrm>
          <a:prstGeom prst="roundRect">
            <a:avLst>
              <a:gd name="adj" fmla="val 8571"/>
            </a:avLst>
          </a:prstGeom>
          <a:solidFill>
            <a:srgbClr val="F4F2EC"/>
          </a:solidFill>
          <a:ln w="12700">
            <a:solidFill>
              <a:srgbClr val="E3E1DA"/>
            </a:solidFill>
            <a:prstDash val="solid"/>
          </a:ln>
        </p:spPr>
      </p:sp>
      <p:sp>
        <p:nvSpPr>
          <p:cNvPr id="13" name="Text 11"/>
          <p:cNvSpPr/>
          <p:nvPr/>
        </p:nvSpPr>
        <p:spPr>
          <a:xfrm>
            <a:off x="548640" y="26974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compileSdk 36</a:t>
            </a:r>
            <a:endParaRPr lang="en-US" sz="1300" dirty="0"/>
          </a:p>
        </p:txBody>
      </p:sp>
      <p:sp>
        <p:nvSpPr>
          <p:cNvPr id="14" name="Shape 12"/>
          <p:cNvSpPr/>
          <p:nvPr/>
        </p:nvSpPr>
        <p:spPr>
          <a:xfrm>
            <a:off x="2606040" y="2697480"/>
            <a:ext cx="1874520" cy="640080"/>
          </a:xfrm>
          <a:prstGeom prst="roundRect">
            <a:avLst>
              <a:gd name="adj" fmla="val 8571"/>
            </a:avLst>
          </a:prstGeom>
          <a:solidFill>
            <a:srgbClr val="F4F2EC"/>
          </a:solidFill>
          <a:ln w="12700">
            <a:solidFill>
              <a:srgbClr val="E3E1DA"/>
            </a:solidFill>
            <a:prstDash val="solid"/>
          </a:ln>
        </p:spPr>
      </p:sp>
      <p:sp>
        <p:nvSpPr>
          <p:cNvPr id="15" name="Text 13"/>
          <p:cNvSpPr/>
          <p:nvPr/>
        </p:nvSpPr>
        <p:spPr>
          <a:xfrm>
            <a:off x="2606040" y="26974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minSdk 28</a:t>
            </a:r>
            <a:endParaRPr lang="en-US" sz="1300" dirty="0"/>
          </a:p>
        </p:txBody>
      </p:sp>
      <p:sp>
        <p:nvSpPr>
          <p:cNvPr id="16" name="Shape 14"/>
          <p:cNvSpPr/>
          <p:nvPr/>
        </p:nvSpPr>
        <p:spPr>
          <a:xfrm>
            <a:off x="4663440" y="2697480"/>
            <a:ext cx="1874520" cy="640080"/>
          </a:xfrm>
          <a:prstGeom prst="roundRect">
            <a:avLst>
              <a:gd name="adj" fmla="val 8571"/>
            </a:avLst>
          </a:prstGeom>
          <a:solidFill>
            <a:srgbClr val="F4F2EC"/>
          </a:solidFill>
          <a:ln w="12700">
            <a:solidFill>
              <a:srgbClr val="E3E1DA"/>
            </a:solidFill>
            <a:prstDash val="solid"/>
          </a:ln>
        </p:spPr>
      </p:sp>
      <p:sp>
        <p:nvSpPr>
          <p:cNvPr id="17" name="Text 15"/>
          <p:cNvSpPr/>
          <p:nvPr/>
        </p:nvSpPr>
        <p:spPr>
          <a:xfrm>
            <a:off x="4663440" y="26974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JitPack</a:t>
            </a:r>
            <a:endParaRPr lang="en-US" sz="1300" dirty="0"/>
          </a:p>
        </p:txBody>
      </p:sp>
      <p:sp>
        <p:nvSpPr>
          <p:cNvPr id="18" name="Shape 16"/>
          <p:cNvSpPr/>
          <p:nvPr/>
        </p:nvSpPr>
        <p:spPr>
          <a:xfrm>
            <a:off x="6720840" y="2697480"/>
            <a:ext cx="1874520" cy="640080"/>
          </a:xfrm>
          <a:prstGeom prst="roundRect">
            <a:avLst>
              <a:gd name="adj" fmla="val 8571"/>
            </a:avLst>
          </a:prstGeom>
          <a:solidFill>
            <a:srgbClr val="F4F2EC"/>
          </a:solidFill>
          <a:ln w="12700">
            <a:solidFill>
              <a:srgbClr val="E3E1DA"/>
            </a:solidFill>
            <a:prstDash val="solid"/>
          </a:ln>
        </p:spPr>
      </p:sp>
      <p:sp>
        <p:nvSpPr>
          <p:cNvPr id="19" name="Text 17"/>
          <p:cNvSpPr/>
          <p:nvPr/>
        </p:nvSpPr>
        <p:spPr>
          <a:xfrm>
            <a:off x="6720840" y="2697480"/>
            <a:ext cx="1874520" cy="640080"/>
          </a:xfrm>
          <a:prstGeom prst="rect">
            <a:avLst/>
          </a:prstGeom>
          <a:noFill/>
          <a:ln/>
        </p:spPr>
        <p:txBody>
          <a:bodyPr wrap="square" lIns="0" tIns="0" rIns="0" bIns="0" rtlCol="0" anchor="ctr"/>
          <a:lstStyle/>
          <a:p>
            <a:pPr algn="ctr" indent="0" marL="0">
              <a:buNone/>
            </a:pPr>
            <a:r>
              <a:rPr lang="en-US" sz="1300" b="1" dirty="0">
                <a:solidFill>
                  <a:srgbClr val="0C0C0E"/>
                </a:solidFill>
                <a:latin typeface="Calibri" pitchFamily="34" charset="0"/>
                <a:ea typeface="Calibri" pitchFamily="34" charset="-122"/>
                <a:cs typeface="Calibri" pitchFamily="34" charset="-120"/>
              </a:rPr>
              <a:t>No XML layouts</a:t>
            </a:r>
            <a:endParaRPr lang="en-US" sz="1300" dirty="0"/>
          </a:p>
        </p:txBody>
      </p:sp>
      <p:sp>
        <p:nvSpPr>
          <p:cNvPr id="20" name="Text 18"/>
          <p:cNvSpPr/>
          <p:nvPr/>
        </p:nvSpPr>
        <p:spPr>
          <a:xfrm>
            <a:off x="548640" y="3931920"/>
            <a:ext cx="8046720" cy="365760"/>
          </a:xfrm>
          <a:prstGeom prst="rect">
            <a:avLst/>
          </a:prstGeom>
          <a:noFill/>
          <a:ln/>
        </p:spPr>
        <p:txBody>
          <a:bodyPr wrap="square" lIns="0" tIns="0" rIns="0" bIns="0" rtlCol="0" anchor="ctr"/>
          <a:lstStyle/>
          <a:p>
            <a:pPr indent="0" marL="0">
              <a:buNone/>
            </a:pPr>
            <a:r>
              <a:rPr lang="en-US" sz="1300" dirty="0">
                <a:solidFill>
                  <a:srgbClr val="86837B"/>
                </a:solidFill>
                <a:latin typeface="Calibri" pitchFamily="34" charset="0"/>
                <a:ea typeface="Calibri" pitchFamily="34" charset="-122"/>
                <a:cs typeface="Calibri" pitchFamily="34" charset="-120"/>
              </a:rPr>
              <a:t>One Activity · all Compose · library depends only on Compose — no DI, no networking.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300" kern="0" dirty="0">
                <a:solidFill>
                  <a:srgbClr val="4F46E5"/>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ctr"/>
          <a:lstStyle/>
          <a:p>
            <a:pPr indent="0" marL="0">
              <a:buNone/>
            </a:pPr>
            <a:r>
              <a:rPr lang="en-US" sz="3200" b="1" dirty="0">
                <a:solidFill>
                  <a:srgbClr val="0C0C0E"/>
                </a:solidFill>
                <a:latin typeface="Calibri" pitchFamily="34" charset="0"/>
                <a:ea typeface="Calibri" pitchFamily="34" charset="-122"/>
                <a:cs typeface="Calibri" pitchFamily="34" charset="-120"/>
              </a:rPr>
              <a:t>Where it goes next</a:t>
            </a:r>
            <a:endParaRPr lang="en-US" sz="3200" dirty="0"/>
          </a:p>
        </p:txBody>
      </p:sp>
      <p:sp>
        <p:nvSpPr>
          <p:cNvPr id="4" name="Shape 2"/>
          <p:cNvSpPr/>
          <p:nvPr/>
        </p:nvSpPr>
        <p:spPr>
          <a:xfrm>
            <a:off x="548640" y="1828800"/>
            <a:ext cx="1874520" cy="2011680"/>
          </a:xfrm>
          <a:prstGeom prst="roundRect">
            <a:avLst>
              <a:gd name="adj" fmla="val 4878"/>
            </a:avLst>
          </a:prstGeom>
          <a:solidFill>
            <a:srgbClr val="F4F2EC"/>
          </a:solidFill>
          <a:ln/>
        </p:spPr>
      </p:sp>
      <p:sp>
        <p:nvSpPr>
          <p:cNvPr id="5" name="Shape 3"/>
          <p:cNvSpPr/>
          <p:nvPr/>
        </p:nvSpPr>
        <p:spPr>
          <a:xfrm>
            <a:off x="713232" y="2011680"/>
            <a:ext cx="457200" cy="457200"/>
          </a:xfrm>
          <a:prstGeom prst="ellipse">
            <a:avLst/>
          </a:prstGeom>
          <a:solidFill>
            <a:srgbClr val="4F46E5"/>
          </a:solidFill>
          <a:ln/>
        </p:spPr>
      </p:sp>
      <p:sp>
        <p:nvSpPr>
          <p:cNvPr id="6" name="Text 4"/>
          <p:cNvSpPr/>
          <p:nvPr/>
        </p:nvSpPr>
        <p:spPr>
          <a:xfrm>
            <a:off x="713232"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13232" y="2606040"/>
            <a:ext cx="1600200" cy="45720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Pressure &amp; velocity</a:t>
            </a:r>
            <a:endParaRPr lang="en-US" sz="1300" dirty="0"/>
          </a:p>
        </p:txBody>
      </p:sp>
      <p:sp>
        <p:nvSpPr>
          <p:cNvPr id="8" name="Text 6"/>
          <p:cNvSpPr/>
          <p:nvPr/>
        </p:nvSpPr>
        <p:spPr>
          <a:xfrm>
            <a:off x="713232" y="3063240"/>
            <a:ext cx="1600200" cy="640080"/>
          </a:xfrm>
          <a:prstGeom prst="rect">
            <a:avLst/>
          </a:prstGeom>
          <a:noFill/>
          <a:ln/>
        </p:spPr>
        <p:txBody>
          <a:bodyPr wrap="square" lIns="0" tIns="0" rIns="0" bIns="0" rtlCol="0" anchor="ctr"/>
          <a:lstStyle/>
          <a:p>
            <a:pPr indent="0" marL="0">
              <a:buNone/>
            </a:pPr>
            <a:r>
              <a:rPr lang="en-US" sz="1050" dirty="0">
                <a:solidFill>
                  <a:srgbClr val="86837B"/>
                </a:solidFill>
                <a:latin typeface="Calibri" pitchFamily="34" charset="0"/>
                <a:ea typeface="Calibri" pitchFamily="34" charset="-122"/>
                <a:cs typeface="Calibri" pitchFamily="34" charset="-120"/>
              </a:rPr>
              <a:t>Stroke width reacts to speed / stylus</a:t>
            </a:r>
            <a:endParaRPr lang="en-US" sz="1050" dirty="0"/>
          </a:p>
        </p:txBody>
      </p:sp>
      <p:sp>
        <p:nvSpPr>
          <p:cNvPr id="9" name="Shape 7"/>
          <p:cNvSpPr/>
          <p:nvPr/>
        </p:nvSpPr>
        <p:spPr>
          <a:xfrm>
            <a:off x="2606040" y="1828800"/>
            <a:ext cx="1874520" cy="2011680"/>
          </a:xfrm>
          <a:prstGeom prst="roundRect">
            <a:avLst>
              <a:gd name="adj" fmla="val 4878"/>
            </a:avLst>
          </a:prstGeom>
          <a:solidFill>
            <a:srgbClr val="F4F2EC"/>
          </a:solidFill>
          <a:ln/>
        </p:spPr>
      </p:sp>
      <p:sp>
        <p:nvSpPr>
          <p:cNvPr id="10" name="Shape 8"/>
          <p:cNvSpPr/>
          <p:nvPr/>
        </p:nvSpPr>
        <p:spPr>
          <a:xfrm>
            <a:off x="2770632" y="2011680"/>
            <a:ext cx="457200" cy="457200"/>
          </a:xfrm>
          <a:prstGeom prst="ellipse">
            <a:avLst/>
          </a:prstGeom>
          <a:solidFill>
            <a:srgbClr val="FB6F61"/>
          </a:solidFill>
          <a:ln/>
        </p:spPr>
      </p:sp>
      <p:sp>
        <p:nvSpPr>
          <p:cNvPr id="11" name="Text 9"/>
          <p:cNvSpPr/>
          <p:nvPr/>
        </p:nvSpPr>
        <p:spPr>
          <a:xfrm>
            <a:off x="2770632"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2770632" y="2606040"/>
            <a:ext cx="1600200" cy="45720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Save / restore JSON</a:t>
            </a:r>
            <a:endParaRPr lang="en-US" sz="1300" dirty="0"/>
          </a:p>
        </p:txBody>
      </p:sp>
      <p:sp>
        <p:nvSpPr>
          <p:cNvPr id="13" name="Text 11"/>
          <p:cNvSpPr/>
          <p:nvPr/>
        </p:nvSpPr>
        <p:spPr>
          <a:xfrm>
            <a:off x="2770632" y="3063240"/>
            <a:ext cx="1600200" cy="640080"/>
          </a:xfrm>
          <a:prstGeom prst="rect">
            <a:avLst/>
          </a:prstGeom>
          <a:noFill/>
          <a:ln/>
        </p:spPr>
        <p:txBody>
          <a:bodyPr wrap="square" lIns="0" tIns="0" rIns="0" bIns="0" rtlCol="0" anchor="ctr"/>
          <a:lstStyle/>
          <a:p>
            <a:pPr indent="0" marL="0">
              <a:buNone/>
            </a:pPr>
            <a:r>
              <a:rPr lang="en-US" sz="1050" dirty="0">
                <a:solidFill>
                  <a:srgbClr val="86837B"/>
                </a:solidFill>
                <a:latin typeface="Calibri" pitchFamily="34" charset="0"/>
                <a:ea typeface="Calibri" pitchFamily="34" charset="-122"/>
                <a:cs typeface="Calibri" pitchFamily="34" charset="-120"/>
              </a:rPr>
              <a:t>Persist drawings as data</a:t>
            </a:r>
            <a:endParaRPr lang="en-US" sz="1050" dirty="0"/>
          </a:p>
        </p:txBody>
      </p:sp>
      <p:sp>
        <p:nvSpPr>
          <p:cNvPr id="14" name="Shape 12"/>
          <p:cNvSpPr/>
          <p:nvPr/>
        </p:nvSpPr>
        <p:spPr>
          <a:xfrm>
            <a:off x="4663440" y="1828800"/>
            <a:ext cx="1874520" cy="2011680"/>
          </a:xfrm>
          <a:prstGeom prst="roundRect">
            <a:avLst>
              <a:gd name="adj" fmla="val 4878"/>
            </a:avLst>
          </a:prstGeom>
          <a:solidFill>
            <a:srgbClr val="F4F2EC"/>
          </a:solidFill>
          <a:ln/>
        </p:spPr>
      </p:sp>
      <p:sp>
        <p:nvSpPr>
          <p:cNvPr id="15" name="Shape 13"/>
          <p:cNvSpPr/>
          <p:nvPr/>
        </p:nvSpPr>
        <p:spPr>
          <a:xfrm>
            <a:off x="4828032" y="2011680"/>
            <a:ext cx="457200" cy="457200"/>
          </a:xfrm>
          <a:prstGeom prst="ellipse">
            <a:avLst/>
          </a:prstGeom>
          <a:solidFill>
            <a:srgbClr val="14B8A6"/>
          </a:solidFill>
          <a:ln/>
        </p:spPr>
      </p:sp>
      <p:sp>
        <p:nvSpPr>
          <p:cNvPr id="16" name="Text 14"/>
          <p:cNvSpPr/>
          <p:nvPr/>
        </p:nvSpPr>
        <p:spPr>
          <a:xfrm>
            <a:off x="4828032"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4828032" y="2606040"/>
            <a:ext cx="1600200" cy="45720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Transparent export</a:t>
            </a:r>
            <a:endParaRPr lang="en-US" sz="1300" dirty="0"/>
          </a:p>
        </p:txBody>
      </p:sp>
      <p:sp>
        <p:nvSpPr>
          <p:cNvPr id="18" name="Text 16"/>
          <p:cNvSpPr/>
          <p:nvPr/>
        </p:nvSpPr>
        <p:spPr>
          <a:xfrm>
            <a:off x="4828032" y="3063240"/>
            <a:ext cx="1600200" cy="640080"/>
          </a:xfrm>
          <a:prstGeom prst="rect">
            <a:avLst/>
          </a:prstGeom>
          <a:noFill/>
          <a:ln/>
        </p:spPr>
        <p:txBody>
          <a:bodyPr wrap="square" lIns="0" tIns="0" rIns="0" bIns="0" rtlCol="0" anchor="ctr"/>
          <a:lstStyle/>
          <a:p>
            <a:pPr indent="0" marL="0">
              <a:buNone/>
            </a:pPr>
            <a:r>
              <a:rPr lang="en-US" sz="1050" dirty="0">
                <a:solidFill>
                  <a:srgbClr val="86837B"/>
                </a:solidFill>
                <a:latin typeface="Calibri" pitchFamily="34" charset="0"/>
                <a:ea typeface="Calibri" pitchFamily="34" charset="-122"/>
                <a:cs typeface="Calibri" pitchFamily="34" charset="-120"/>
              </a:rPr>
              <a:t>PNG with no background</a:t>
            </a:r>
            <a:endParaRPr lang="en-US" sz="1050" dirty="0"/>
          </a:p>
        </p:txBody>
      </p:sp>
      <p:sp>
        <p:nvSpPr>
          <p:cNvPr id="19" name="Shape 17"/>
          <p:cNvSpPr/>
          <p:nvPr/>
        </p:nvSpPr>
        <p:spPr>
          <a:xfrm>
            <a:off x="6720840" y="1828800"/>
            <a:ext cx="1874520" cy="2011680"/>
          </a:xfrm>
          <a:prstGeom prst="roundRect">
            <a:avLst>
              <a:gd name="adj" fmla="val 4878"/>
            </a:avLst>
          </a:prstGeom>
          <a:solidFill>
            <a:srgbClr val="F4F2EC"/>
          </a:solidFill>
          <a:ln/>
        </p:spPr>
      </p:sp>
      <p:sp>
        <p:nvSpPr>
          <p:cNvPr id="20" name="Shape 18"/>
          <p:cNvSpPr/>
          <p:nvPr/>
        </p:nvSpPr>
        <p:spPr>
          <a:xfrm>
            <a:off x="6885432" y="2011680"/>
            <a:ext cx="457200" cy="457200"/>
          </a:xfrm>
          <a:prstGeom prst="ellipse">
            <a:avLst/>
          </a:prstGeom>
          <a:solidFill>
            <a:srgbClr val="F59E0B"/>
          </a:solidFill>
          <a:ln/>
        </p:spPr>
      </p:sp>
      <p:sp>
        <p:nvSpPr>
          <p:cNvPr id="21" name="Text 19"/>
          <p:cNvSpPr/>
          <p:nvPr/>
        </p:nvSpPr>
        <p:spPr>
          <a:xfrm>
            <a:off x="6885432"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885432" y="2606040"/>
            <a:ext cx="1600200" cy="457200"/>
          </a:xfrm>
          <a:prstGeom prst="rect">
            <a:avLst/>
          </a:prstGeom>
          <a:noFill/>
          <a:ln/>
        </p:spPr>
        <p:txBody>
          <a:bodyPr wrap="square" lIns="0" tIns="0" rIns="0" bIns="0" rtlCol="0" anchor="ctr"/>
          <a:lstStyle/>
          <a:p>
            <a:pPr indent="0" marL="0">
              <a:buNone/>
            </a:pPr>
            <a:r>
              <a:rPr lang="en-US" sz="1300" b="1" dirty="0">
                <a:solidFill>
                  <a:srgbClr val="0C0C0E"/>
                </a:solidFill>
                <a:latin typeface="Calibri" pitchFamily="34" charset="0"/>
                <a:ea typeface="Calibri" pitchFamily="34" charset="-122"/>
                <a:cs typeface="Calibri" pitchFamily="34" charset="-120"/>
              </a:rPr>
              <a:t>Select &amp; move shapes</a:t>
            </a:r>
            <a:endParaRPr lang="en-US" sz="1300" dirty="0"/>
          </a:p>
        </p:txBody>
      </p:sp>
      <p:sp>
        <p:nvSpPr>
          <p:cNvPr id="23" name="Text 21"/>
          <p:cNvSpPr/>
          <p:nvPr/>
        </p:nvSpPr>
        <p:spPr>
          <a:xfrm>
            <a:off x="6885432" y="3063240"/>
            <a:ext cx="1600200" cy="640080"/>
          </a:xfrm>
          <a:prstGeom prst="rect">
            <a:avLst/>
          </a:prstGeom>
          <a:noFill/>
          <a:ln/>
        </p:spPr>
        <p:txBody>
          <a:bodyPr wrap="square" lIns="0" tIns="0" rIns="0" bIns="0" rtlCol="0" anchor="ctr"/>
          <a:lstStyle/>
          <a:p>
            <a:pPr indent="0" marL="0">
              <a:buNone/>
            </a:pPr>
            <a:r>
              <a:rPr lang="en-US" sz="1050" dirty="0">
                <a:solidFill>
                  <a:srgbClr val="86837B"/>
                </a:solidFill>
                <a:latin typeface="Calibri" pitchFamily="34" charset="0"/>
                <a:ea typeface="Calibri" pitchFamily="34" charset="-122"/>
                <a:cs typeface="Calibri" pitchFamily="34" charset="-120"/>
              </a:rPr>
              <a:t>Edit after drawing</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E"/>
        </a:solidFill>
      </p:bgPr>
    </p:bg>
    <p:spTree>
      <p:nvGrpSpPr>
        <p:cNvPr id="1" name=""/>
        <p:cNvGrpSpPr/>
        <p:nvPr/>
      </p:nvGrpSpPr>
      <p:grpSpPr>
        <a:xfrm>
          <a:off x="0" y="0"/>
          <a:ext cx="0" cy="0"/>
          <a:chOff x="0" y="0"/>
          <a:chExt cx="0" cy="0"/>
        </a:xfrm>
      </p:grpSpPr>
      <p:sp>
        <p:nvSpPr>
          <p:cNvPr id="2" name="Text 0"/>
          <p:cNvSpPr/>
          <p:nvPr/>
        </p:nvSpPr>
        <p:spPr>
          <a:xfrm>
            <a:off x="640080" y="1554480"/>
            <a:ext cx="6400800" cy="164592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Calibri" pitchFamily="34" charset="0"/>
                <a:ea typeface="Calibri" pitchFamily="34" charset="-122"/>
                <a:cs typeface="Calibri" pitchFamily="34" charset="-120"/>
              </a:rPr>
              <a:t>A real library.</a:t>
            </a:r>
            <a:endParaRPr lang="en-US" sz="4000" dirty="0"/>
          </a:p>
          <a:p>
            <a:pPr indent="0" marL="0">
              <a:lnSpc>
                <a:spcPct val="100000"/>
              </a:lnSpc>
              <a:buNone/>
            </a:pPr>
            <a:r>
              <a:rPr lang="en-US" sz="4000" b="1" dirty="0">
                <a:solidFill>
                  <a:srgbClr val="FFFFFF"/>
                </a:solidFill>
                <a:latin typeface="Calibri" pitchFamily="34" charset="0"/>
                <a:ea typeface="Calibri" pitchFamily="34" charset="-122"/>
                <a:cs typeface="Calibri" pitchFamily="34" charset="-120"/>
              </a:rPr>
              <a:t>A polished demo.</a:t>
            </a:r>
            <a:endParaRPr lang="en-US" sz="4000" dirty="0"/>
          </a:p>
        </p:txBody>
      </p:sp>
      <p:sp>
        <p:nvSpPr>
          <p:cNvPr id="3" name="Text 1"/>
          <p:cNvSpPr/>
          <p:nvPr/>
        </p:nvSpPr>
        <p:spPr>
          <a:xfrm>
            <a:off x="658368" y="3200400"/>
            <a:ext cx="5852160" cy="731520"/>
          </a:xfrm>
          <a:prstGeom prst="rect">
            <a:avLst/>
          </a:prstGeom>
          <a:noFill/>
          <a:ln/>
        </p:spPr>
        <p:txBody>
          <a:bodyPr wrap="square" lIns="0" tIns="0" rIns="0" bIns="0" rtlCol="0" anchor="ctr"/>
          <a:lstStyle/>
          <a:p>
            <a:pPr indent="0" marL="0">
              <a:buNone/>
            </a:pPr>
            <a:r>
              <a:rPr lang="en-US" sz="1600" dirty="0">
                <a:solidFill>
                  <a:srgbClr val="C9C7D6"/>
                </a:solidFill>
                <a:latin typeface="Calibri" pitchFamily="34" charset="0"/>
                <a:ea typeface="Calibri" pitchFamily="34" charset="-122"/>
                <a:cs typeface="Calibri" pitchFamily="34" charset="-120"/>
              </a:rPr>
              <a:t>EZCanvas — the drawing surface Android keeps making you rebuild, done once.</a:t>
            </a:r>
            <a:endParaRPr lang="en-US" sz="1600" dirty="0"/>
          </a:p>
        </p:txBody>
      </p:sp>
      <p:sp>
        <p:nvSpPr>
          <p:cNvPr id="4" name="Text 2"/>
          <p:cNvSpPr/>
          <p:nvPr/>
        </p:nvSpPr>
        <p:spPr>
          <a:xfrm>
            <a:off x="658368" y="4114800"/>
            <a:ext cx="5486400" cy="365760"/>
          </a:xfrm>
          <a:prstGeom prst="rect">
            <a:avLst/>
          </a:prstGeom>
          <a:noFill/>
          <a:ln/>
        </p:spPr>
        <p:txBody>
          <a:bodyPr wrap="square" lIns="0" tIns="0" rIns="0" bIns="0"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github.com/RotemBar18/EZCanvas</a:t>
            </a:r>
            <a:endParaRPr lang="en-US" sz="1300" dirty="0"/>
          </a:p>
        </p:txBody>
      </p:sp>
      <p:sp>
        <p:nvSpPr>
          <p:cNvPr id="5" name="Shape 3"/>
          <p:cNvSpPr/>
          <p:nvPr/>
        </p:nvSpPr>
        <p:spPr>
          <a:xfrm>
            <a:off x="6675120" y="2651760"/>
            <a:ext cx="1371600" cy="-548640"/>
          </a:xfrm>
          <a:prstGeom prst="line">
            <a:avLst/>
          </a:prstGeom>
          <a:noFill/>
          <a:ln w="76200">
            <a:solidFill>
              <a:srgbClr val="4F46E5"/>
            </a:solidFill>
            <a:prstDash val="solid"/>
          </a:ln>
        </p:spPr>
      </p:sp>
      <p:sp>
        <p:nvSpPr>
          <p:cNvPr id="6" name="Shape 4"/>
          <p:cNvSpPr/>
          <p:nvPr/>
        </p:nvSpPr>
        <p:spPr>
          <a:xfrm>
            <a:off x="7863840" y="2011680"/>
            <a:ext cx="1097280" cy="640080"/>
          </a:xfrm>
          <a:prstGeom prst="line">
            <a:avLst/>
          </a:prstGeom>
          <a:noFill/>
          <a:ln w="76200">
            <a:solidFill>
              <a:srgbClr val="FB6F61"/>
            </a:solidFill>
            <a:prstDash val="solid"/>
          </a:ln>
        </p:spPr>
      </p:sp>
      <p:sp>
        <p:nvSpPr>
          <p:cNvPr id="7" name="Shape 5"/>
          <p:cNvSpPr/>
          <p:nvPr/>
        </p:nvSpPr>
        <p:spPr>
          <a:xfrm>
            <a:off x="8503920" y="1874520"/>
            <a:ext cx="868680" cy="868680"/>
          </a:xfrm>
          <a:prstGeom prst="ellipse">
            <a:avLst/>
          </a:prstGeom>
          <a:ln w="63500">
            <a:solidFill>
              <a:srgbClr val="14B8A6"/>
            </a:solidFill>
            <a:prstDash val="solid"/>
          </a:ln>
        </p:spPr>
      </p:sp>
      <p:sp>
        <p:nvSpPr>
          <p:cNvPr id="8" name="Shape 6"/>
          <p:cNvSpPr/>
          <p:nvPr/>
        </p:nvSpPr>
        <p:spPr>
          <a:xfrm>
            <a:off x="6766560" y="2971800"/>
            <a:ext cx="219456" cy="219456"/>
          </a:xfrm>
          <a:prstGeom prst="ellipse">
            <a:avLst/>
          </a:prstGeom>
          <a:solidFill>
            <a:srgbClr val="4F46E5"/>
          </a:solidFill>
          <a:ln/>
        </p:spPr>
      </p:sp>
      <p:sp>
        <p:nvSpPr>
          <p:cNvPr id="9" name="Shape 7"/>
          <p:cNvSpPr/>
          <p:nvPr/>
        </p:nvSpPr>
        <p:spPr>
          <a:xfrm>
            <a:off x="7077456" y="2971800"/>
            <a:ext cx="219456" cy="219456"/>
          </a:xfrm>
          <a:prstGeom prst="ellipse">
            <a:avLst/>
          </a:prstGeom>
          <a:solidFill>
            <a:srgbClr val="FB6F61"/>
          </a:solidFill>
          <a:ln/>
        </p:spPr>
      </p:sp>
      <p:sp>
        <p:nvSpPr>
          <p:cNvPr id="10" name="Shape 8"/>
          <p:cNvSpPr/>
          <p:nvPr/>
        </p:nvSpPr>
        <p:spPr>
          <a:xfrm>
            <a:off x="7388352" y="2971800"/>
            <a:ext cx="219456" cy="219456"/>
          </a:xfrm>
          <a:prstGeom prst="ellipse">
            <a:avLst/>
          </a:prstGeom>
          <a:solidFill>
            <a:srgbClr val="14B8A6"/>
          </a:solidFill>
          <a:ln/>
        </p:spPr>
      </p:sp>
      <p:sp>
        <p:nvSpPr>
          <p:cNvPr id="11" name="Shape 9"/>
          <p:cNvSpPr/>
          <p:nvPr/>
        </p:nvSpPr>
        <p:spPr>
          <a:xfrm>
            <a:off x="7699248" y="2971800"/>
            <a:ext cx="219456" cy="219456"/>
          </a:xfrm>
          <a:prstGeom prst="ellipse">
            <a:avLst/>
          </a:prstGeom>
          <a:solidFill>
            <a:srgbClr val="F59E0B"/>
          </a:solidFill>
          <a:ln/>
        </p:spPr>
      </p:sp>
      <p:sp>
        <p:nvSpPr>
          <p:cNvPr id="12" name="Shape 10"/>
          <p:cNvSpPr/>
          <p:nvPr/>
        </p:nvSpPr>
        <p:spPr>
          <a:xfrm>
            <a:off x="8010144" y="2971800"/>
            <a:ext cx="219456" cy="219456"/>
          </a:xfrm>
          <a:prstGeom prst="ellipse">
            <a:avLst/>
          </a:prstGeom>
          <a:solidFill>
            <a:srgbClr val="0C0C0E"/>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EZCanvas</dc:title>
  <dc:subject>PptxGenJS Presentation</dc:subject>
  <dc:creator>Rotem Bar</dc:creator>
  <cp:lastModifiedBy>Rotem Bar</cp:lastModifiedBy>
  <cp:revision>1</cp:revision>
  <dcterms:created xsi:type="dcterms:W3CDTF">2026-06-27T08:05:21Z</dcterms:created>
  <dcterms:modified xsi:type="dcterms:W3CDTF">2026-06-27T08:05:21Z</dcterms:modified>
</cp:coreProperties>
</file>